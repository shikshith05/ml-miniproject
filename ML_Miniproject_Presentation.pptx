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 id="2147483652" r:id="rId2"/>
    <p:sldMasterId id="2147483653" r:id="rId3"/>
  </p:sldMasterIdLst>
  <p:notesMasterIdLst>
    <p:notesMasterId r:id="rId1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65F3599-DF9A-4929-8EFE-D328E7F35198}">
  <a:tblStyle styleId="{165F3599-DF9A-4929-8EFE-D328E7F3519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38"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33520" y="764280"/>
            <a:ext cx="6704640" cy="377136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777240" y="4777560"/>
            <a:ext cx="6217560" cy="452592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5" name="Google Shape;5;n"/>
          <p:cNvSpPr txBox="1">
            <a:spLocks noGrp="1"/>
          </p:cNvSpPr>
          <p:nvPr>
            <p:ph type="hdr" idx="3"/>
          </p:nvPr>
        </p:nvSpPr>
        <p:spPr>
          <a:xfrm>
            <a:off x="0" y="0"/>
            <a:ext cx="3372840" cy="5025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6" name="Google Shape;6;n"/>
          <p:cNvSpPr txBox="1">
            <a:spLocks noGrp="1"/>
          </p:cNvSpPr>
          <p:nvPr>
            <p:ph type="dt" idx="10"/>
          </p:nvPr>
        </p:nvSpPr>
        <p:spPr>
          <a:xfrm>
            <a:off x="4399200" y="0"/>
            <a:ext cx="3372840" cy="502560"/>
          </a:xfrm>
          <a:prstGeom prst="rect">
            <a:avLst/>
          </a:prstGeom>
          <a:noFill/>
          <a:ln>
            <a:noFill/>
          </a:ln>
        </p:spPr>
        <p:txBody>
          <a:bodyPr spcFirstLastPara="1" wrap="square" lIns="0" tIns="0" rIns="0" bIns="0" anchor="t" anchorCtr="0">
            <a:noAutofit/>
          </a:bodyPr>
          <a:lstStyle>
            <a:lvl1pPr marR="0" lvl="0" algn="r" rtl="0">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555480"/>
            <a:ext cx="3372840" cy="502560"/>
          </a:xfrm>
          <a:prstGeom prst="rect">
            <a:avLst/>
          </a:prstGeom>
          <a:noFill/>
          <a:ln>
            <a:noFill/>
          </a:ln>
        </p:spPr>
        <p:txBody>
          <a:bodyPr spcFirstLastPara="1" wrap="square" lIns="0" tIns="0" rIns="0" bIns="0" anchor="b" anchorCtr="0">
            <a:noAutofit/>
          </a:bodyPr>
          <a:lstStyle>
            <a:lvl1pPr marR="0" lvl="0" algn="l" rtl="0">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8" name="Google Shape;8;n"/>
          <p:cNvSpPr txBox="1">
            <a:spLocks noGrp="1"/>
          </p:cNvSpPr>
          <p:nvPr>
            <p:ph type="sldNum" idx="12"/>
          </p:nvPr>
        </p:nvSpPr>
        <p:spPr>
          <a:xfrm>
            <a:off x="4399200" y="9555480"/>
            <a:ext cx="3372840" cy="502560"/>
          </a:xfrm>
          <a:prstGeom prst="rect">
            <a:avLst/>
          </a:prstGeom>
          <a:noFill/>
          <a:ln>
            <a:noFill/>
          </a:ln>
        </p:spPr>
        <p:txBody>
          <a:bodyPr spcFirstLastPara="1" wrap="square" lIns="0" tIns="0" rIns="0" bIns="0" anchor="b" anchorCtr="0">
            <a:noAutofit/>
          </a:bodyPr>
          <a:lstStyle/>
          <a:p>
            <a:pPr marL="0" marR="0" lvl="0" indent="0" algn="r" rtl="0">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505672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 name="Google Shape;25;p1: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(~30 s) Introduce ourselves and the project. We predict the overall star rating and five aspect ratings (value, rooms, location, cleanliness, sleep quality) using only the review text. Our project is based on the Stanford CS229 report on aspect-based sentiment analysis.</a:t>
            </a:r>
          </a:p>
        </p:txBody>
      </p:sp>
      <p:sp>
        <p:nvSpPr>
          <p:cNvPr id="26" name="Google Shape;26;p1: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1</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9417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 name="Google Shape;39;p2: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 min) Input is the review text, output is six star ratings, and we turn the stars into polarity. We used 30,000 reviews: 20,000 for training and 10,000 for testing. Important point: most ratings are 5 stars, so a model that always says 5 already gets 41 to 64 percent. That's why we compare everything with that baseline. The paper has 7 aspects but our dataset has 5, so we only predict those.</a:t>
            </a:r>
          </a:p>
        </p:txBody>
      </p:sp>
      <p:sp>
        <p:nvSpPr>
          <p:cNvPr id="40" name="Google Shape;40;p2: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2</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1563219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 name="Google Shape;65;p3: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 min) Features: counts of 1 to 3 word phrases, so 'not good' stays together. We kept stop words and did not use TF-IDF, because the paper says sentiment words are common and TF-IDF would reduce their weight (we did not test this ourselves). We train three models for each rating: SVM with balanced class weights so the rare low ratings aren't ignored, Naive Bayes, and Ridge regression rounded to a star. We report exact accuracy, within 1 star, macro-F1 and polarity accuracy.</a:t>
            </a:r>
          </a:p>
        </p:txBody>
      </p:sp>
      <p:sp>
        <p:nvSpPr>
          <p:cNvPr id="66" name="Google Shape;66;p3: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3</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2965112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4: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(~1.5 min) Main result. Naive Bayes was best on all six ratings: 65.1% on overall, against 61.8% for SVM and 56.0% for Ridge, and 97% of its guesses are within 1 star. We kept the SVM as well because its macro-F1 was higher on rooms and location. The paper found SVM best on its data. Our smaller training set may be one reason Naive Bayes did better here, but we didn't test that.</a:t>
            </a:r>
          </a:p>
        </p:txBody>
      </p:sp>
      <p:sp>
        <p:nvSpPr>
          <p:cNvPr id="91" name="Google Shape;91;p4: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4</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1381367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p5: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 min) This is our honest check against always guessing 5 stars. For overall, value, rooms, cleanliness and sleep quality the models clearly learn from the text. For location the gain is only 0.8 points, and for polarity the baseline beats every model, so we don't claim the models understand location.</a:t>
            </a:r>
          </a:p>
        </p:txBody>
      </p:sp>
      <p:sp>
        <p:nvSpPr>
          <p:cNvPr id="103" name="Google Shape;103;p5: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5</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2043640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6: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p6: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 min) This is the paper's main experiment: a model trained only on overall ratings versus a model trained on each aspect. Training on the aspect helps for location, cleanliness and sleep quality, but is slightly worse for value and rooms, so we can't say it helps everywhere. If asked about words: overall: great hotel, wonderful, terrible, worst; cleanliness: spotless, very clean, dirty, filthy; location: great location, perfect location, unsafe.</a:t>
            </a:r>
          </a:p>
        </p:txBody>
      </p:sp>
      <p:sp>
        <p:nvSpPr>
          <p:cNvPr id="114" name="Google Shape;114;p6: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6</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796156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3" name="Google Shape;133;p7: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(~1.5 min) Run the demo live in the notebook by changing the text in predict_review. The highlighted rows (location, sleep quality) look wrong for this review, which shows the problem with reading the whole review at once. Backup example: 'Terrible stay. Dirty bathroom, rude front desk...' gives overall 1, cleanliness 1, sleep quality 1. Before presenting, run the whole notebook once so the models are loaded.</a:t>
            </a:r>
          </a:p>
        </p:txBody>
      </p:sp>
      <p:sp>
        <p:nvSpPr>
          <p:cNvPr id="134" name="Google Shape;134;p7: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7</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2011767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8: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(~30 s) Three points: the models learn real signal for five of six ratings, location is the exception, and training on an aspect helps where the aspect has its own words. Limitations: whole-review input, skewed ratings, and only five aspects instead of seven, so we can't compare directly with the paper. Then move to the last slide.</a:t>
            </a:r>
          </a:p>
        </p:txBody>
      </p:sp>
      <p:sp>
        <p:nvSpPr>
          <p:cNvPr id="147" name="Google Shape;147;p8: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8</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3791105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a:spLocks noGrp="1" noRot="1" noChangeAspect="1"/>
          </p:cNvSpPr>
          <p:nvPr>
            <p:ph type="sldImg" idx="2"/>
          </p:nvPr>
        </p:nvSpPr>
        <p:spPr>
          <a:xfrm>
            <a:off x="685800" y="1143000"/>
            <a:ext cx="5486040" cy="308592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9:notes"/>
          <p:cNvSpPr txBox="1">
            <a:spLocks noGrp="1"/>
          </p:cNvSpPr>
          <p:nvPr>
            <p:ph type="body" idx="1"/>
          </p:nvPr>
        </p:nvSpPr>
        <p:spPr>
          <a:xfrm>
            <a:off x="685800" y="4400640"/>
            <a:ext cx="5486040" cy="3600000"/>
          </a:xfrm>
          <a:prstGeom prst="rect">
            <a:avLst/>
          </a:prstGeom>
          <a:noFill/>
          <a:ln>
            <a:noFill/>
          </a:ln>
        </p:spPr>
        <p:txBody>
          <a:bodyPr spcFirstLastPara="1" wrap="square" lIns="91425" tIns="45700" rIns="91425" bIns="45700" anchor="t" anchorCtr="0">
            <a:noAutofit/>
          </a:bodyPr>
          <a:lstStyle/>
          <a:p>
            <a:r>
              <a:t>Thank the panel and take questions. For code questions, open the notebook. For results, go back to slide 4 (models), slide 5 (location) or slide 6 (aspect vs overall).</a:t>
            </a:r>
          </a:p>
        </p:txBody>
      </p:sp>
      <p:sp>
        <p:nvSpPr>
          <p:cNvPr id="157" name="Google Shape;157;p9:notes"/>
          <p:cNvSpPr txBox="1">
            <a:spLocks noGrp="1"/>
          </p:cNvSpPr>
          <p:nvPr>
            <p:ph type="sldNum" idx="12"/>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a:buNone/>
            </a:pPr>
            <a:fld id="{00000000-1234-1234-1234-123412341234}" type="slidenum">
              <a:rPr lang="en-US" sz="1200" b="0" u="none" strike="noStrike">
                <a:solidFill>
                  <a:schemeClr val="dk1"/>
                </a:solidFill>
                <a:latin typeface="Arial"/>
                <a:ea typeface="Arial"/>
                <a:cs typeface="Arial"/>
                <a:sym typeface="Arial"/>
              </a:rPr>
              <a:t>9</a:t>
            </a:fld>
            <a:endParaRPr sz="1200" b="0" u="none" strike="noStrike">
              <a:solidFill>
                <a:srgbClr val="000000"/>
              </a:solidFill>
              <a:latin typeface="Arial"/>
              <a:ea typeface="Arial"/>
              <a:cs typeface="Arial"/>
              <a:sym typeface="Arial"/>
            </a:endParaRPr>
          </a:p>
        </p:txBody>
      </p:sp>
    </p:spTree>
    <p:extLst>
      <p:ext uri="{BB962C8B-B14F-4D97-AF65-F5344CB8AC3E}">
        <p14:creationId xmlns:p14="http://schemas.microsoft.com/office/powerpoint/2010/main" val="1551425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_DARK" type="blank">
  <p:cSld name="BLANK">
    <p:spTree>
      <p:nvGrpSpPr>
        <p:cNvPr id="1" name="Shape 12"/>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type="blank">
  <p:cSld name="BLANK">
    <p:spTree>
      <p:nvGrpSpPr>
        <p:cNvPr id="1" name="Shape 17"/>
        <p:cNvGrpSpPr/>
        <p:nvPr/>
      </p:nvGrpSpPr>
      <p:grpSpPr>
        <a:xfrm>
          <a:off x="0" y="0"/>
          <a:ext cx="0" cy="0"/>
          <a:chOff x="0" y="0"/>
          <a:chExt cx="0" cy="0"/>
        </a:xfrm>
      </p:grpSpPr>
      <p:sp>
        <p:nvSpPr>
          <p:cNvPr id="18" name="Google Shape;18;p4"/>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lvl1pPr marL="0" lvl="0"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1pPr>
            <a:lvl2pPr marL="0" lvl="1"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2pPr>
            <a:lvl3pPr marL="0" lvl="2"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3pPr>
            <a:lvl4pPr marL="0" lvl="3"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4pPr>
            <a:lvl5pPr marL="0" lvl="4"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5pPr>
            <a:lvl6pPr marL="0" lvl="5"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6pPr>
            <a:lvl7pPr marL="0" lvl="6"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7pPr>
            <a:lvl8pPr marL="0" lvl="7"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8pPr>
            <a:lvl9pPr marL="0" lvl="8" indent="0" algn="l">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LOSE_DARK" type="blank">
  <p:cSld name="BLANK">
    <p:spTree>
      <p:nvGrpSpPr>
        <p:cNvPr id="1"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480" y="273600"/>
            <a:ext cx="10972440" cy="11448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1" name="Google Shape;11;p1"/>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548640" y="320040"/>
            <a:ext cx="11063880" cy="1005480"/>
          </a:xfrm>
          <a:prstGeom prst="rect">
            <a:avLst/>
          </a:prstGeom>
          <a:noFill/>
          <a:ln>
            <a:noFill/>
          </a:ln>
        </p:spPr>
        <p:txBody>
          <a:bodyPr spcFirstLastPara="1" wrap="square" lIns="90000" tIns="45000" rIns="90000" bIns="450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5" name="Google Shape;15;p3"/>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lvl1pPr marL="0" marR="0" lvl="0"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1pPr>
            <a:lvl2pPr marL="0" marR="0" lvl="1"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2pPr>
            <a:lvl3pPr marL="0" marR="0" lvl="2"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3pPr>
            <a:lvl4pPr marL="0" marR="0" lvl="3"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4pPr>
            <a:lvl5pPr marL="0" marR="0" lvl="4"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5pPr>
            <a:lvl6pPr marL="0" marR="0" lvl="5"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6pPr>
            <a:lvl7pPr marL="0" marR="0" lvl="6"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7pPr>
            <a:lvl8pPr marL="0" marR="0" lvl="7"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8pPr>
            <a:lvl9pPr marL="0" marR="0" lvl="8" indent="0" algn="l" rtl="0">
              <a:lnSpc>
                <a:spcPct val="100000"/>
              </a:lnSpc>
              <a:spcBef>
                <a:spcPts val="0"/>
              </a:spcBef>
              <a:buClr>
                <a:srgbClr val="6C757D"/>
              </a:buClr>
              <a:buSzPts val="1200"/>
              <a:buFont typeface="Calibri"/>
              <a:buNone/>
              <a:defRPr sz="1200" b="0" u="none" strike="noStrike">
                <a:solidFill>
                  <a:srgbClr val="6C757D"/>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
        <p:nvSpPr>
          <p:cNvPr id="16" name="Google Shape;16;p3"/>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F4C5C"/>
        </a:solidFill>
        <a:effectLst/>
      </p:bgPr>
    </p:bg>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548640" y="365760"/>
            <a:ext cx="11063880" cy="914040"/>
          </a:xfrm>
          <a:prstGeom prst="rect">
            <a:avLst/>
          </a:prstGeom>
          <a:noFill/>
          <a:ln>
            <a:noFill/>
          </a:ln>
        </p:spPr>
        <p:txBody>
          <a:bodyPr spcFirstLastPara="1" wrap="square" lIns="90000" tIns="45000" rIns="90000" bIns="450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21" name="Google Shape;21;p5"/>
          <p:cNvSpPr txBox="1">
            <a:spLocks noGrp="1"/>
          </p:cNvSpPr>
          <p:nvPr>
            <p:ph type="body" idx="1"/>
          </p:nvPr>
        </p:nvSpPr>
        <p:spPr>
          <a:xfrm>
            <a:off x="609480" y="1604520"/>
            <a:ext cx="10972440" cy="397728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7"/>
          <p:cNvSpPr/>
          <p:nvPr/>
        </p:nvSpPr>
        <p:spPr>
          <a:xfrm>
            <a:off x="731520" y="914400"/>
            <a:ext cx="822924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400" b="1" i="0" u="none" strike="noStrike" cap="none" spc="300">
                <a:solidFill>
                  <a:schemeClr val="accent5"/>
                </a:solidFill>
                <a:latin typeface="Calibri"/>
                <a:ea typeface="Calibri"/>
                <a:cs typeface="Calibri"/>
                <a:sym typeface="Calibri"/>
              </a:rPr>
              <a:t>   MACHINE LEARNING MINI-PROJECT</a:t>
            </a:r>
            <a:endParaRPr sz="1400" b="0" i="0" u="none" strike="noStrike" cap="none">
              <a:solidFill>
                <a:srgbClr val="FFFFFF"/>
              </a:solidFill>
              <a:latin typeface="Arial"/>
              <a:ea typeface="Arial"/>
              <a:cs typeface="Arial"/>
              <a:sym typeface="Arial"/>
            </a:endParaRPr>
          </a:p>
        </p:txBody>
      </p:sp>
      <p:sp>
        <p:nvSpPr>
          <p:cNvPr id="29" name="Google Shape;29;p7"/>
          <p:cNvSpPr/>
          <p:nvPr/>
        </p:nvSpPr>
        <p:spPr>
          <a:xfrm>
            <a:off x="731520" y="1554480"/>
            <a:ext cx="7497720" cy="2194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4400" b="1" i="0" u="none" strike="noStrike" cap="none">
                <a:solidFill>
                  <a:schemeClr val="lt1"/>
                </a:solidFill>
                <a:latin typeface="Cambria"/>
                <a:ea typeface="Cambria"/>
                <a:cs typeface="Cambria"/>
                <a:sym typeface="Cambria"/>
              </a:rPr>
              <a:t>Aspect-Based Sentiment Analysis on Hotel Reviews</a:t>
            </a:r>
            <a:endParaRPr sz="4400" b="0" i="0" u="none" strike="noStrike" cap="none">
              <a:solidFill>
                <a:srgbClr val="FFFFFF"/>
              </a:solidFill>
              <a:latin typeface="Arial"/>
              <a:ea typeface="Arial"/>
              <a:cs typeface="Arial"/>
              <a:sym typeface="Arial"/>
            </a:endParaRPr>
          </a:p>
        </p:txBody>
      </p:sp>
      <p:sp>
        <p:nvSpPr>
          <p:cNvPr id="30" name="Google Shape;30;p7"/>
          <p:cNvSpPr/>
          <p:nvPr/>
        </p:nvSpPr>
        <p:spPr>
          <a:xfrm>
            <a:off x="731520" y="3075480"/>
            <a:ext cx="7131960" cy="655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b="0" i="0" u="none" strike="noStrike" cap="none">
                <a:solidFill>
                  <a:schemeClr val="lt2"/>
                </a:solidFill>
                <a:latin typeface="Calibri"/>
                <a:ea typeface="Calibri"/>
                <a:cs typeface="Calibri"/>
                <a:sym typeface="Calibri"/>
              </a:rPr>
              <a:t>Guessing a hotel review's star ratings (overall + 5 aspects) just from the review text</a:t>
            </a:r>
            <a:endParaRPr sz="2000" b="0" i="0" u="none" strike="noStrike" cap="none">
              <a:solidFill>
                <a:srgbClr val="FFFFFF"/>
              </a:solidFill>
              <a:latin typeface="Arial"/>
              <a:ea typeface="Arial"/>
              <a:cs typeface="Arial"/>
              <a:sym typeface="Arial"/>
            </a:endParaRPr>
          </a:p>
        </p:txBody>
      </p:sp>
      <p:sp>
        <p:nvSpPr>
          <p:cNvPr id="31" name="Google Shape;31;p7"/>
          <p:cNvSpPr/>
          <p:nvPr/>
        </p:nvSpPr>
        <p:spPr>
          <a:xfrm>
            <a:off x="743040" y="3677760"/>
            <a:ext cx="7680600" cy="2020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800" b="1" i="0" u="none" strike="noStrike" cap="none" dirty="0">
                <a:solidFill>
                  <a:schemeClr val="lt1"/>
                </a:solidFill>
                <a:latin typeface="Calibri"/>
                <a:ea typeface="Calibri"/>
                <a:cs typeface="Calibri"/>
                <a:sym typeface="Calibri"/>
              </a:rPr>
              <a:t> Presented By :</a:t>
            </a:r>
            <a:endParaRPr sz="1800" b="0" i="0" u="none" strike="noStrike" cap="none" dirty="0">
              <a:solidFill>
                <a:srgbClr val="FFFFFF"/>
              </a:solidFill>
              <a:latin typeface="Arial"/>
              <a:ea typeface="Arial"/>
              <a:cs typeface="Arial"/>
              <a:sym typeface="Arial"/>
            </a:endParaRPr>
          </a:p>
          <a:p>
            <a:pPr marL="0" marR="0" lvl="0" indent="0" algn="l" rtl="0">
              <a:lnSpc>
                <a:spcPct val="100000"/>
              </a:lnSpc>
              <a:spcBef>
                <a:spcPts val="0"/>
              </a:spcBef>
              <a:spcAft>
                <a:spcPts val="0"/>
              </a:spcAft>
              <a:buNone/>
            </a:pPr>
            <a:endParaRPr sz="1800" b="0" i="0" u="none" strike="noStrike" cap="none" dirty="0">
              <a:solidFill>
                <a:srgbClr val="FFFFFF"/>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chemeClr val="lt1"/>
                </a:solidFill>
                <a:latin typeface="Calibri"/>
                <a:ea typeface="Calibri"/>
                <a:cs typeface="Calibri"/>
                <a:sym typeface="Calibri"/>
              </a:rPr>
              <a:t> </a:t>
            </a:r>
            <a:r>
              <a:rPr lang="en-US" sz="1800" b="1" i="0" u="none" strike="noStrike" cap="none" dirty="0" err="1" smtClean="0">
                <a:solidFill>
                  <a:schemeClr val="lt1"/>
                </a:solidFill>
                <a:latin typeface="Calibri"/>
                <a:ea typeface="Calibri"/>
                <a:cs typeface="Calibri"/>
                <a:sym typeface="Calibri"/>
              </a:rPr>
              <a:t>Shikshith</a:t>
            </a:r>
            <a:r>
              <a:rPr lang="en-US" sz="1800" b="1" i="0" u="none" strike="noStrike" cap="none" dirty="0" smtClean="0">
                <a:solidFill>
                  <a:schemeClr val="lt1"/>
                </a:solidFill>
                <a:latin typeface="Calibri"/>
                <a:ea typeface="Calibri"/>
                <a:cs typeface="Calibri"/>
                <a:sym typeface="Calibri"/>
              </a:rPr>
              <a:t> V </a:t>
            </a:r>
            <a:r>
              <a:rPr lang="en-US" sz="1800" b="1" i="0" u="none" strike="noStrike" cap="none" dirty="0">
                <a:solidFill>
                  <a:schemeClr val="lt1"/>
                </a:solidFill>
                <a:latin typeface="Calibri"/>
                <a:ea typeface="Calibri"/>
                <a:cs typeface="Calibri"/>
                <a:sym typeface="Calibri"/>
              </a:rPr>
              <a:t>(PES1UG24AM400)  </a:t>
            </a:r>
            <a:endParaRPr sz="1800" b="0" i="0" u="none" strike="noStrike" cap="none" dirty="0">
              <a:solidFill>
                <a:srgbClr val="FFFFFF"/>
              </a:solidFill>
              <a:latin typeface="Arial"/>
              <a:ea typeface="Arial"/>
              <a:cs typeface="Arial"/>
              <a:sym typeface="Arial"/>
            </a:endParaRPr>
          </a:p>
          <a:p>
            <a:pPr marL="0" marR="0" lvl="0" indent="0" algn="l" rtl="0">
              <a:lnSpc>
                <a:spcPct val="100000"/>
              </a:lnSpc>
              <a:spcBef>
                <a:spcPts val="0"/>
              </a:spcBef>
              <a:spcAft>
                <a:spcPts val="0"/>
              </a:spcAft>
              <a:buNone/>
            </a:pPr>
            <a:r>
              <a:rPr lang="en-US" sz="1800" b="1" i="0" u="none" strike="noStrike" cap="none" dirty="0">
                <a:solidFill>
                  <a:schemeClr val="lt1"/>
                </a:solidFill>
                <a:latin typeface="Calibri"/>
                <a:ea typeface="Calibri"/>
                <a:cs typeface="Calibri"/>
                <a:sym typeface="Calibri"/>
              </a:rPr>
              <a:t> </a:t>
            </a:r>
            <a:r>
              <a:rPr lang="en-US" sz="1800" b="1" i="0" u="none" strike="noStrike" cap="none" dirty="0" err="1">
                <a:solidFill>
                  <a:schemeClr val="lt1"/>
                </a:solidFill>
                <a:latin typeface="Calibri"/>
                <a:ea typeface="Calibri"/>
                <a:cs typeface="Calibri"/>
                <a:sym typeface="Calibri"/>
              </a:rPr>
              <a:t>Sateesh</a:t>
            </a:r>
            <a:r>
              <a:rPr lang="en-US" sz="1800" b="1" i="0" u="none" strike="noStrike" cap="none" dirty="0">
                <a:solidFill>
                  <a:schemeClr val="lt1"/>
                </a:solidFill>
                <a:latin typeface="Calibri"/>
                <a:ea typeface="Calibri"/>
                <a:cs typeface="Calibri"/>
                <a:sym typeface="Calibri"/>
              </a:rPr>
              <a:t> (PES1UG24AM397)</a:t>
            </a:r>
            <a:endParaRPr sz="1800" b="0" i="0" u="none" strike="noStrike" cap="none" dirty="0">
              <a:solidFill>
                <a:srgbClr val="FFFFFF"/>
              </a:solidFill>
              <a:latin typeface="Arial"/>
              <a:ea typeface="Arial"/>
              <a:cs typeface="Arial"/>
              <a:sym typeface="Arial"/>
            </a:endParaRPr>
          </a:p>
        </p:txBody>
      </p:sp>
      <p:sp>
        <p:nvSpPr>
          <p:cNvPr id="32" name="Google Shape;32;p7"/>
          <p:cNvSpPr/>
          <p:nvPr/>
        </p:nvSpPr>
        <p:spPr>
          <a:xfrm>
            <a:off x="8778240" y="182880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33" name="Google Shape;33;p7"/>
          <p:cNvSpPr/>
          <p:nvPr/>
        </p:nvSpPr>
        <p:spPr>
          <a:xfrm>
            <a:off x="9829800" y="182880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34" name="Google Shape;34;p7"/>
          <p:cNvSpPr/>
          <p:nvPr/>
        </p:nvSpPr>
        <p:spPr>
          <a:xfrm>
            <a:off x="10881360" y="182880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35" name="Google Shape;35;p7"/>
          <p:cNvSpPr/>
          <p:nvPr/>
        </p:nvSpPr>
        <p:spPr>
          <a:xfrm>
            <a:off x="8778240" y="297180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36" name="Google Shape;36;p7"/>
          <p:cNvSpPr/>
          <p:nvPr/>
        </p:nvSpPr>
        <p:spPr>
          <a:xfrm>
            <a:off x="9829800" y="2971800"/>
            <a:ext cx="914040" cy="914040"/>
          </a:xfrm>
          <a:prstGeom prst="star5">
            <a:avLst>
              <a:gd name="adj" fmla="val 19098"/>
              <a:gd name="hf" fmla="val 105146"/>
              <a:gd name="vf" fmla="val 110557"/>
            </a:avLst>
          </a:prstGeom>
          <a:solidFill>
            <a:schemeClr val="accent3"/>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8"/>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What we are predicting</a:t>
            </a:r>
            <a:endParaRPr sz="3200" b="0" i="0" u="none" strike="noStrike" cap="none">
              <a:solidFill>
                <a:schemeClr val="dk1"/>
              </a:solidFill>
              <a:latin typeface="Calibri"/>
              <a:ea typeface="Calibri"/>
              <a:cs typeface="Calibri"/>
              <a:sym typeface="Calibri"/>
            </a:endParaRPr>
          </a:p>
        </p:txBody>
      </p:sp>
      <p:sp>
        <p:nvSpPr>
          <p:cNvPr id="43" name="Google Shape;43;p8"/>
          <p:cNvSpPr/>
          <p:nvPr/>
        </p:nvSpPr>
        <p:spPr>
          <a:xfrm>
            <a:off x="548640" y="1600200"/>
            <a:ext cx="776880" cy="7768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pic>
        <p:nvPicPr>
          <p:cNvPr id="44" name="Google Shape;44;p8" descr="Input icon"/>
          <p:cNvPicPr preferRelativeResize="0"/>
          <p:nvPr/>
        </p:nvPicPr>
        <p:blipFill rotWithShape="1">
          <a:blip r:embed="rId3">
            <a:alphaModFix/>
          </a:blip>
          <a:srcRect/>
          <a:stretch/>
        </p:blipFill>
        <p:spPr>
          <a:xfrm>
            <a:off x="740520" y="1792080"/>
            <a:ext cx="392760" cy="392760"/>
          </a:xfrm>
          <a:prstGeom prst="rect">
            <a:avLst/>
          </a:prstGeom>
          <a:noFill/>
          <a:ln>
            <a:noFill/>
          </a:ln>
        </p:spPr>
      </p:pic>
      <p:sp>
        <p:nvSpPr>
          <p:cNvPr id="45" name="Google Shape;45;p8"/>
          <p:cNvSpPr/>
          <p:nvPr/>
        </p:nvSpPr>
        <p:spPr>
          <a:xfrm>
            <a:off x="1554480" y="1581840"/>
            <a:ext cx="338292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b="1" u="none" strike="noStrike">
                <a:solidFill>
                  <a:schemeClr val="dk2"/>
                </a:solidFill>
                <a:latin typeface="Calibri"/>
                <a:ea typeface="Calibri"/>
                <a:cs typeface="Calibri"/>
                <a:sym typeface="Calibri"/>
              </a:rPr>
              <a:t>Input</a:t>
            </a:r>
            <a:endParaRPr sz="2000" b="0" u="none" strike="noStrike">
              <a:solidFill>
                <a:srgbClr val="000000"/>
              </a:solidFill>
              <a:latin typeface="Arial"/>
              <a:ea typeface="Arial"/>
              <a:cs typeface="Arial"/>
              <a:sym typeface="Arial"/>
            </a:endParaRPr>
          </a:p>
        </p:txBody>
      </p:sp>
      <p:sp>
        <p:nvSpPr>
          <p:cNvPr id="46" name="Google Shape;46;p8"/>
          <p:cNvSpPr/>
          <p:nvPr/>
        </p:nvSpPr>
        <p:spPr>
          <a:xfrm>
            <a:off x="1554480" y="1947600"/>
            <a:ext cx="3382920" cy="822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A hotel review (title + text)</a:t>
            </a:r>
            <a:endParaRPr sz="1600" b="0" u="none" strike="noStrike">
              <a:solidFill>
                <a:srgbClr val="000000"/>
              </a:solidFill>
              <a:latin typeface="Arial"/>
              <a:ea typeface="Arial"/>
              <a:cs typeface="Arial"/>
              <a:sym typeface="Arial"/>
            </a:endParaRPr>
          </a:p>
        </p:txBody>
      </p:sp>
      <p:sp>
        <p:nvSpPr>
          <p:cNvPr id="47" name="Google Shape;47;p8"/>
          <p:cNvSpPr/>
          <p:nvPr/>
        </p:nvSpPr>
        <p:spPr>
          <a:xfrm>
            <a:off x="548640" y="2926080"/>
            <a:ext cx="776880" cy="7768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pic>
        <p:nvPicPr>
          <p:cNvPr id="48" name="Google Shape;48;p8" descr="Output icon"/>
          <p:cNvPicPr preferRelativeResize="0"/>
          <p:nvPr/>
        </p:nvPicPr>
        <p:blipFill rotWithShape="1">
          <a:blip r:embed="rId4">
            <a:alphaModFix/>
          </a:blip>
          <a:srcRect/>
          <a:stretch/>
        </p:blipFill>
        <p:spPr>
          <a:xfrm>
            <a:off x="740520" y="3117960"/>
            <a:ext cx="392760" cy="392760"/>
          </a:xfrm>
          <a:prstGeom prst="rect">
            <a:avLst/>
          </a:prstGeom>
          <a:noFill/>
          <a:ln>
            <a:noFill/>
          </a:ln>
        </p:spPr>
      </p:pic>
      <p:sp>
        <p:nvSpPr>
          <p:cNvPr id="49" name="Google Shape;49;p8"/>
          <p:cNvSpPr/>
          <p:nvPr/>
        </p:nvSpPr>
        <p:spPr>
          <a:xfrm>
            <a:off x="1554480" y="2907720"/>
            <a:ext cx="338292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b="1" u="none" strike="noStrike">
                <a:solidFill>
                  <a:schemeClr val="dk2"/>
                </a:solidFill>
                <a:latin typeface="Calibri"/>
                <a:ea typeface="Calibri"/>
                <a:cs typeface="Calibri"/>
                <a:sym typeface="Calibri"/>
              </a:rPr>
              <a:t>Output</a:t>
            </a:r>
            <a:endParaRPr sz="2000" b="0" u="none" strike="noStrike">
              <a:solidFill>
                <a:srgbClr val="000000"/>
              </a:solidFill>
              <a:latin typeface="Arial"/>
              <a:ea typeface="Arial"/>
              <a:cs typeface="Arial"/>
              <a:sym typeface="Arial"/>
            </a:endParaRPr>
          </a:p>
        </p:txBody>
      </p:sp>
      <p:sp>
        <p:nvSpPr>
          <p:cNvPr id="50" name="Google Shape;50;p8"/>
          <p:cNvSpPr/>
          <p:nvPr/>
        </p:nvSpPr>
        <p:spPr>
          <a:xfrm>
            <a:off x="1554480" y="3273480"/>
            <a:ext cx="3382920" cy="822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Star ratings (1–5) for overall, value, rooms, location, cleanliness and sleep quality</a:t>
            </a:r>
            <a:endParaRPr sz="1600" b="0" u="none" strike="noStrike">
              <a:solidFill>
                <a:srgbClr val="000000"/>
              </a:solidFill>
              <a:latin typeface="Arial"/>
              <a:ea typeface="Arial"/>
              <a:cs typeface="Arial"/>
              <a:sym typeface="Arial"/>
            </a:endParaRPr>
          </a:p>
        </p:txBody>
      </p:sp>
      <p:sp>
        <p:nvSpPr>
          <p:cNvPr id="51" name="Google Shape;51;p8"/>
          <p:cNvSpPr/>
          <p:nvPr/>
        </p:nvSpPr>
        <p:spPr>
          <a:xfrm>
            <a:off x="548640" y="4251960"/>
            <a:ext cx="776880" cy="7768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pic>
        <p:nvPicPr>
          <p:cNvPr id="52" name="Google Shape;52;p8" descr="Polarity icon"/>
          <p:cNvPicPr preferRelativeResize="0"/>
          <p:nvPr/>
        </p:nvPicPr>
        <p:blipFill rotWithShape="1">
          <a:blip r:embed="rId5">
            <a:alphaModFix/>
          </a:blip>
          <a:srcRect/>
          <a:stretch/>
        </p:blipFill>
        <p:spPr>
          <a:xfrm>
            <a:off x="740520" y="4443840"/>
            <a:ext cx="392760" cy="392760"/>
          </a:xfrm>
          <a:prstGeom prst="rect">
            <a:avLst/>
          </a:prstGeom>
          <a:noFill/>
          <a:ln>
            <a:noFill/>
          </a:ln>
        </p:spPr>
      </p:pic>
      <p:sp>
        <p:nvSpPr>
          <p:cNvPr id="53" name="Google Shape;53;p8"/>
          <p:cNvSpPr/>
          <p:nvPr/>
        </p:nvSpPr>
        <p:spPr>
          <a:xfrm>
            <a:off x="1554480" y="4233600"/>
            <a:ext cx="338292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000" b="1" u="none" strike="noStrike">
                <a:solidFill>
                  <a:schemeClr val="dk2"/>
                </a:solidFill>
                <a:latin typeface="Calibri"/>
                <a:ea typeface="Calibri"/>
                <a:cs typeface="Calibri"/>
                <a:sym typeface="Calibri"/>
              </a:rPr>
              <a:t>Polarity</a:t>
            </a:r>
            <a:endParaRPr sz="2000" b="0" u="none" strike="noStrike">
              <a:solidFill>
                <a:srgbClr val="000000"/>
              </a:solidFill>
              <a:latin typeface="Arial"/>
              <a:ea typeface="Arial"/>
              <a:cs typeface="Arial"/>
              <a:sym typeface="Arial"/>
            </a:endParaRPr>
          </a:p>
        </p:txBody>
      </p:sp>
      <p:sp>
        <p:nvSpPr>
          <p:cNvPr id="54" name="Google Shape;54;p8"/>
          <p:cNvSpPr/>
          <p:nvPr/>
        </p:nvSpPr>
        <p:spPr>
          <a:xfrm>
            <a:off x="1554480" y="4599360"/>
            <a:ext cx="3382920" cy="822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Below 3 = negative, 3 = neutral, above 3 = positive</a:t>
            </a:r>
            <a:endParaRPr sz="1600" b="0" u="none" strike="noStrike">
              <a:solidFill>
                <a:srgbClr val="000000"/>
              </a:solidFill>
              <a:latin typeface="Arial"/>
              <a:ea typeface="Arial"/>
              <a:cs typeface="Arial"/>
              <a:sym typeface="Arial"/>
            </a:endParaRPr>
          </a:p>
        </p:txBody>
      </p:sp>
      <p:pic>
        <p:nvPicPr>
          <p:cNvPr id="55" name="Google Shape;55;p8" descr="Bar charts of star-rating distribution per target; 5 stars is the most common rating for every target"/>
          <p:cNvPicPr preferRelativeResize="0"/>
          <p:nvPr/>
        </p:nvPicPr>
        <p:blipFill rotWithShape="1">
          <a:blip r:embed="rId6">
            <a:alphaModFix/>
          </a:blip>
          <a:srcRect/>
          <a:stretch/>
        </p:blipFill>
        <p:spPr>
          <a:xfrm>
            <a:off x="5394960" y="1463040"/>
            <a:ext cx="6217560" cy="3060720"/>
          </a:xfrm>
          <a:prstGeom prst="rect">
            <a:avLst/>
          </a:prstGeom>
          <a:noFill/>
          <a:ln>
            <a:noFill/>
          </a:ln>
        </p:spPr>
      </p:pic>
      <p:sp>
        <p:nvSpPr>
          <p:cNvPr id="56" name="Google Shape;56;p8"/>
          <p:cNvSpPr/>
          <p:nvPr/>
        </p:nvSpPr>
        <p:spPr>
          <a:xfrm>
            <a:off x="5394960" y="4709160"/>
            <a:ext cx="2011320" cy="594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US" sz="3000" b="1" u="none" strike="noStrike">
                <a:solidFill>
                  <a:schemeClr val="accent2"/>
                </a:solidFill>
                <a:latin typeface="Cambria"/>
                <a:ea typeface="Cambria"/>
                <a:cs typeface="Cambria"/>
                <a:sym typeface="Cambria"/>
              </a:rPr>
              <a:t>30,000</a:t>
            </a:r>
            <a:endParaRPr sz="3000" b="0" u="none" strike="noStrike">
              <a:solidFill>
                <a:srgbClr val="000000"/>
              </a:solidFill>
              <a:latin typeface="Arial"/>
              <a:ea typeface="Arial"/>
              <a:cs typeface="Arial"/>
              <a:sym typeface="Arial"/>
            </a:endParaRPr>
          </a:p>
        </p:txBody>
      </p:sp>
      <p:sp>
        <p:nvSpPr>
          <p:cNvPr id="57" name="Google Shape;57;p8"/>
          <p:cNvSpPr/>
          <p:nvPr/>
        </p:nvSpPr>
        <p:spPr>
          <a:xfrm>
            <a:off x="5394960" y="5303520"/>
            <a:ext cx="2011320" cy="5482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00" b="0" u="none" strike="noStrike">
                <a:solidFill>
                  <a:schemeClr val="dk1"/>
                </a:solidFill>
                <a:latin typeface="Calibri"/>
                <a:ea typeface="Calibri"/>
                <a:cs typeface="Calibri"/>
                <a:sym typeface="Calibri"/>
              </a:rPr>
              <a:t>reviews sampled</a:t>
            </a:r>
            <a:endParaRPr sz="1300" b="0" u="none" strike="noStrike">
              <a:solidFill>
                <a:srgbClr val="000000"/>
              </a:solidFill>
              <a:latin typeface="Arial"/>
              <a:ea typeface="Arial"/>
              <a:cs typeface="Arial"/>
              <a:sym typeface="Arial"/>
            </a:endParaRPr>
          </a:p>
        </p:txBody>
      </p:sp>
      <p:sp>
        <p:nvSpPr>
          <p:cNvPr id="58" name="Google Shape;58;p8"/>
          <p:cNvSpPr/>
          <p:nvPr/>
        </p:nvSpPr>
        <p:spPr>
          <a:xfrm>
            <a:off x="7498080" y="4709160"/>
            <a:ext cx="2011320" cy="594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US" sz="3000" b="1" u="none" strike="noStrike">
                <a:solidFill>
                  <a:schemeClr val="accent2"/>
                </a:solidFill>
                <a:latin typeface="Cambria"/>
                <a:ea typeface="Cambria"/>
                <a:cs typeface="Cambria"/>
                <a:sym typeface="Cambria"/>
              </a:rPr>
              <a:t>20k / 10k</a:t>
            </a:r>
            <a:endParaRPr sz="3000" b="0" u="none" strike="noStrike">
              <a:solidFill>
                <a:srgbClr val="000000"/>
              </a:solidFill>
              <a:latin typeface="Arial"/>
              <a:ea typeface="Arial"/>
              <a:cs typeface="Arial"/>
              <a:sym typeface="Arial"/>
            </a:endParaRPr>
          </a:p>
        </p:txBody>
      </p:sp>
      <p:sp>
        <p:nvSpPr>
          <p:cNvPr id="59" name="Google Shape;59;p8"/>
          <p:cNvSpPr/>
          <p:nvPr/>
        </p:nvSpPr>
        <p:spPr>
          <a:xfrm>
            <a:off x="7498080" y="5303520"/>
            <a:ext cx="2011320" cy="5482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00" b="0" u="none" strike="noStrike">
                <a:solidFill>
                  <a:schemeClr val="dk1"/>
                </a:solidFill>
                <a:latin typeface="Calibri"/>
                <a:ea typeface="Calibri"/>
                <a:cs typeface="Calibri"/>
                <a:sym typeface="Calibri"/>
              </a:rPr>
              <a:t>train / test</a:t>
            </a:r>
            <a:endParaRPr sz="1300" b="0" u="none" strike="noStrike">
              <a:solidFill>
                <a:srgbClr val="000000"/>
              </a:solidFill>
              <a:latin typeface="Arial"/>
              <a:ea typeface="Arial"/>
              <a:cs typeface="Arial"/>
              <a:sym typeface="Arial"/>
            </a:endParaRPr>
          </a:p>
        </p:txBody>
      </p:sp>
      <p:sp>
        <p:nvSpPr>
          <p:cNvPr id="60" name="Google Shape;60;p8"/>
          <p:cNvSpPr/>
          <p:nvPr/>
        </p:nvSpPr>
        <p:spPr>
          <a:xfrm>
            <a:off x="9601200" y="4709160"/>
            <a:ext cx="2011320" cy="5940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None/>
            </a:pPr>
            <a:r>
              <a:rPr lang="en-US" sz="3000" b="1" u="none" strike="noStrike">
                <a:solidFill>
                  <a:schemeClr val="accent2"/>
                </a:solidFill>
                <a:latin typeface="Cambria"/>
                <a:ea typeface="Cambria"/>
                <a:cs typeface="Cambria"/>
                <a:sym typeface="Cambria"/>
              </a:rPr>
              <a:t>41–64%</a:t>
            </a:r>
            <a:endParaRPr sz="3000" b="0" u="none" strike="noStrike">
              <a:solidFill>
                <a:srgbClr val="000000"/>
              </a:solidFill>
              <a:latin typeface="Arial"/>
              <a:ea typeface="Arial"/>
              <a:cs typeface="Arial"/>
              <a:sym typeface="Arial"/>
            </a:endParaRPr>
          </a:p>
        </p:txBody>
      </p:sp>
      <p:sp>
        <p:nvSpPr>
          <p:cNvPr id="61" name="Google Shape;61;p8"/>
          <p:cNvSpPr/>
          <p:nvPr/>
        </p:nvSpPr>
        <p:spPr>
          <a:xfrm>
            <a:off x="9601200" y="5303520"/>
            <a:ext cx="2011320" cy="5482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300" b="0" u="none" strike="noStrike">
                <a:solidFill>
                  <a:schemeClr val="dk1"/>
                </a:solidFill>
                <a:latin typeface="Calibri"/>
                <a:ea typeface="Calibri"/>
                <a:cs typeface="Calibri"/>
                <a:sym typeface="Calibri"/>
              </a:rPr>
              <a:t>accuracy if we just guess 5 stars every time</a:t>
            </a:r>
            <a:endParaRPr sz="1300" b="0" u="none" strike="noStrike">
              <a:solidFill>
                <a:srgbClr val="000000"/>
              </a:solidFill>
              <a:latin typeface="Arial"/>
              <a:ea typeface="Arial"/>
              <a:cs typeface="Arial"/>
              <a:sym typeface="Arial"/>
            </a:endParaRPr>
          </a:p>
        </p:txBody>
      </p:sp>
      <p:sp>
        <p:nvSpPr>
          <p:cNvPr id="62" name="Google Shape;62;p8"/>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2</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9"/>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How we did it</a:t>
            </a:r>
            <a:endParaRPr sz="3200" b="0" i="0" u="none" strike="noStrike" cap="none">
              <a:solidFill>
                <a:schemeClr val="dk1"/>
              </a:solidFill>
              <a:latin typeface="Calibri"/>
              <a:ea typeface="Calibri"/>
              <a:cs typeface="Calibri"/>
              <a:sym typeface="Calibri"/>
            </a:endParaRPr>
          </a:p>
        </p:txBody>
      </p:sp>
      <p:sp>
        <p:nvSpPr>
          <p:cNvPr id="69" name="Google Shape;69;p9"/>
          <p:cNvSpPr/>
          <p:nvPr/>
        </p:nvSpPr>
        <p:spPr>
          <a:xfrm>
            <a:off x="548640" y="1645920"/>
            <a:ext cx="3382920" cy="2742840"/>
          </a:xfrm>
          <a:prstGeom prst="roundRect">
            <a:avLst>
              <a:gd name="adj" fmla="val 4000"/>
            </a:avLst>
          </a:prstGeom>
          <a:solidFill>
            <a:schemeClr val="lt2"/>
          </a:solidFill>
          <a:ln w="12700" cap="flat" cmpd="sng">
            <a:solidFill>
              <a:srgbClr val="EAF3F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70" name="Google Shape;70;p9"/>
          <p:cNvSpPr/>
          <p:nvPr/>
        </p:nvSpPr>
        <p:spPr>
          <a:xfrm>
            <a:off x="822960" y="1874520"/>
            <a:ext cx="548280" cy="5482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71" name="Google Shape;71;p9"/>
          <p:cNvSpPr/>
          <p:nvPr/>
        </p:nvSpPr>
        <p:spPr>
          <a:xfrm>
            <a:off x="822960" y="1874520"/>
            <a:ext cx="548280" cy="5482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u="none" strike="noStrike">
                <a:solidFill>
                  <a:schemeClr val="lt1"/>
                </a:solidFill>
                <a:latin typeface="Calibri"/>
                <a:ea typeface="Calibri"/>
                <a:cs typeface="Calibri"/>
                <a:sym typeface="Calibri"/>
              </a:rPr>
              <a:t>1</a:t>
            </a:r>
            <a:endParaRPr sz="1800" b="0" u="none" strike="noStrike">
              <a:solidFill>
                <a:srgbClr val="000000"/>
              </a:solidFill>
              <a:latin typeface="Arial"/>
              <a:ea typeface="Arial"/>
              <a:cs typeface="Arial"/>
              <a:sym typeface="Arial"/>
            </a:endParaRPr>
          </a:p>
        </p:txBody>
      </p:sp>
      <p:sp>
        <p:nvSpPr>
          <p:cNvPr id="72" name="Google Shape;72;p9"/>
          <p:cNvSpPr/>
          <p:nvPr/>
        </p:nvSpPr>
        <p:spPr>
          <a:xfrm>
            <a:off x="1554480" y="1874520"/>
            <a:ext cx="2194200" cy="5482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b="1" u="none" strike="noStrike">
                <a:solidFill>
                  <a:schemeClr val="dk2"/>
                </a:solidFill>
                <a:latin typeface="Calibri"/>
                <a:ea typeface="Calibri"/>
                <a:cs typeface="Calibri"/>
                <a:sym typeface="Calibri"/>
              </a:rPr>
              <a:t>Features</a:t>
            </a:r>
            <a:endParaRPr sz="2400" b="0" u="none" strike="noStrike">
              <a:solidFill>
                <a:srgbClr val="000000"/>
              </a:solidFill>
              <a:latin typeface="Arial"/>
              <a:ea typeface="Arial"/>
              <a:cs typeface="Arial"/>
              <a:sym typeface="Arial"/>
            </a:endParaRPr>
          </a:p>
        </p:txBody>
      </p:sp>
      <p:sp>
        <p:nvSpPr>
          <p:cNvPr id="73" name="Google Shape;73;p9"/>
          <p:cNvSpPr/>
          <p:nvPr/>
        </p:nvSpPr>
        <p:spPr>
          <a:xfrm>
            <a:off x="822960" y="2697480"/>
            <a:ext cx="2925720" cy="155412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Count words and phrases (1 to 3 words)</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Drop very rare / very common phrases, keep up to 300k</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No TF-IDF (same as the paper)</a:t>
            </a:r>
            <a:endParaRPr sz="1600" b="0" u="none" strike="noStrike">
              <a:solidFill>
                <a:srgbClr val="000000"/>
              </a:solidFill>
              <a:latin typeface="Arial"/>
              <a:ea typeface="Arial"/>
              <a:cs typeface="Arial"/>
              <a:sym typeface="Arial"/>
            </a:endParaRPr>
          </a:p>
        </p:txBody>
      </p:sp>
      <p:sp>
        <p:nvSpPr>
          <p:cNvPr id="74" name="Google Shape;74;p9"/>
          <p:cNvSpPr/>
          <p:nvPr/>
        </p:nvSpPr>
        <p:spPr>
          <a:xfrm>
            <a:off x="4005000" y="3108960"/>
            <a:ext cx="310680" cy="365400"/>
          </a:xfrm>
          <a:prstGeom prst="rightArrow">
            <a:avLst>
              <a:gd name="adj1" fmla="val 50000"/>
              <a:gd name="adj2" fmla="val 50000"/>
            </a:avLst>
          </a:prstGeom>
          <a:solidFill>
            <a:schemeClr val="accent2"/>
          </a:solidFill>
          <a:ln w="12700" cap="flat" cmpd="sng">
            <a:solidFill>
              <a:srgbClr val="E3641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75" name="Google Shape;75;p9"/>
          <p:cNvSpPr/>
          <p:nvPr/>
        </p:nvSpPr>
        <p:spPr>
          <a:xfrm>
            <a:off x="4389120" y="1645920"/>
            <a:ext cx="3382920" cy="2742840"/>
          </a:xfrm>
          <a:prstGeom prst="roundRect">
            <a:avLst>
              <a:gd name="adj" fmla="val 4000"/>
            </a:avLst>
          </a:prstGeom>
          <a:solidFill>
            <a:schemeClr val="lt2"/>
          </a:solidFill>
          <a:ln w="12700" cap="flat" cmpd="sng">
            <a:solidFill>
              <a:srgbClr val="EAF3F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76" name="Google Shape;76;p9"/>
          <p:cNvSpPr/>
          <p:nvPr/>
        </p:nvSpPr>
        <p:spPr>
          <a:xfrm>
            <a:off x="4663440" y="1874520"/>
            <a:ext cx="548280" cy="5482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77" name="Google Shape;77;p9"/>
          <p:cNvSpPr/>
          <p:nvPr/>
        </p:nvSpPr>
        <p:spPr>
          <a:xfrm>
            <a:off x="4663440" y="1874520"/>
            <a:ext cx="548280" cy="5482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u="none" strike="noStrike">
                <a:solidFill>
                  <a:schemeClr val="lt1"/>
                </a:solidFill>
                <a:latin typeface="Calibri"/>
                <a:ea typeface="Calibri"/>
                <a:cs typeface="Calibri"/>
                <a:sym typeface="Calibri"/>
              </a:rPr>
              <a:t>2</a:t>
            </a:r>
            <a:endParaRPr sz="1800" b="0" u="none" strike="noStrike">
              <a:solidFill>
                <a:srgbClr val="000000"/>
              </a:solidFill>
              <a:latin typeface="Arial"/>
              <a:ea typeface="Arial"/>
              <a:cs typeface="Arial"/>
              <a:sym typeface="Arial"/>
            </a:endParaRPr>
          </a:p>
        </p:txBody>
      </p:sp>
      <p:sp>
        <p:nvSpPr>
          <p:cNvPr id="78" name="Google Shape;78;p9"/>
          <p:cNvSpPr/>
          <p:nvPr/>
        </p:nvSpPr>
        <p:spPr>
          <a:xfrm>
            <a:off x="5394960" y="1874520"/>
            <a:ext cx="2194200" cy="5482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b="1" u="none" strike="noStrike">
                <a:solidFill>
                  <a:schemeClr val="dk2"/>
                </a:solidFill>
                <a:latin typeface="Calibri"/>
                <a:ea typeface="Calibri"/>
                <a:cs typeface="Calibri"/>
                <a:sym typeface="Calibri"/>
              </a:rPr>
              <a:t>Models</a:t>
            </a:r>
            <a:endParaRPr sz="2400" b="0" u="none" strike="noStrike">
              <a:solidFill>
                <a:srgbClr val="000000"/>
              </a:solidFill>
              <a:latin typeface="Arial"/>
              <a:ea typeface="Arial"/>
              <a:cs typeface="Arial"/>
              <a:sym typeface="Arial"/>
            </a:endParaRPr>
          </a:p>
        </p:txBody>
      </p:sp>
      <p:sp>
        <p:nvSpPr>
          <p:cNvPr id="79" name="Google Shape;79;p9"/>
          <p:cNvSpPr/>
          <p:nvPr/>
        </p:nvSpPr>
        <p:spPr>
          <a:xfrm>
            <a:off x="4663440" y="2697480"/>
            <a:ext cx="2925720" cy="155412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Linear SVM (balanced class weights)</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Multinomial Naive Bayes</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Ridge regression (rounded to a star)</a:t>
            </a:r>
            <a:endParaRPr sz="1600" b="0" u="none" strike="noStrike">
              <a:solidFill>
                <a:srgbClr val="000000"/>
              </a:solidFill>
              <a:latin typeface="Arial"/>
              <a:ea typeface="Arial"/>
              <a:cs typeface="Arial"/>
              <a:sym typeface="Arial"/>
            </a:endParaRPr>
          </a:p>
        </p:txBody>
      </p:sp>
      <p:sp>
        <p:nvSpPr>
          <p:cNvPr id="80" name="Google Shape;80;p9"/>
          <p:cNvSpPr/>
          <p:nvPr/>
        </p:nvSpPr>
        <p:spPr>
          <a:xfrm>
            <a:off x="7845480" y="3108960"/>
            <a:ext cx="310680" cy="365400"/>
          </a:xfrm>
          <a:prstGeom prst="rightArrow">
            <a:avLst>
              <a:gd name="adj1" fmla="val 50000"/>
              <a:gd name="adj2" fmla="val 50000"/>
            </a:avLst>
          </a:prstGeom>
          <a:solidFill>
            <a:schemeClr val="accent2"/>
          </a:solidFill>
          <a:ln w="12700" cap="flat" cmpd="sng">
            <a:solidFill>
              <a:srgbClr val="E3641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81" name="Google Shape;81;p9"/>
          <p:cNvSpPr/>
          <p:nvPr/>
        </p:nvSpPr>
        <p:spPr>
          <a:xfrm>
            <a:off x="8229600" y="1645920"/>
            <a:ext cx="3382920" cy="2742840"/>
          </a:xfrm>
          <a:prstGeom prst="roundRect">
            <a:avLst>
              <a:gd name="adj" fmla="val 4000"/>
            </a:avLst>
          </a:prstGeom>
          <a:solidFill>
            <a:schemeClr val="lt2"/>
          </a:solidFill>
          <a:ln w="12700" cap="flat" cmpd="sng">
            <a:solidFill>
              <a:srgbClr val="EAF3F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82" name="Google Shape;82;p9"/>
          <p:cNvSpPr/>
          <p:nvPr/>
        </p:nvSpPr>
        <p:spPr>
          <a:xfrm>
            <a:off x="8503920" y="1874520"/>
            <a:ext cx="548280" cy="548280"/>
          </a:xfrm>
          <a:prstGeom prst="ellipse">
            <a:avLst/>
          </a:prstGeom>
          <a:solidFill>
            <a:schemeClr val="accent1"/>
          </a:solidFill>
          <a:ln w="12700" cap="flat" cmpd="sng">
            <a:solidFill>
              <a:srgbClr val="0F4C5C"/>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
        <p:nvSpPr>
          <p:cNvPr id="83" name="Google Shape;83;p9"/>
          <p:cNvSpPr/>
          <p:nvPr/>
        </p:nvSpPr>
        <p:spPr>
          <a:xfrm>
            <a:off x="8503920" y="1874520"/>
            <a:ext cx="548280" cy="5482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800" b="1" u="none" strike="noStrike">
                <a:solidFill>
                  <a:schemeClr val="lt1"/>
                </a:solidFill>
                <a:latin typeface="Calibri"/>
                <a:ea typeface="Calibri"/>
                <a:cs typeface="Calibri"/>
                <a:sym typeface="Calibri"/>
              </a:rPr>
              <a:t>3</a:t>
            </a:r>
            <a:endParaRPr sz="1800" b="0" u="none" strike="noStrike">
              <a:solidFill>
                <a:srgbClr val="000000"/>
              </a:solidFill>
              <a:latin typeface="Arial"/>
              <a:ea typeface="Arial"/>
              <a:cs typeface="Arial"/>
              <a:sym typeface="Arial"/>
            </a:endParaRPr>
          </a:p>
        </p:txBody>
      </p:sp>
      <p:sp>
        <p:nvSpPr>
          <p:cNvPr id="84" name="Google Shape;84;p9"/>
          <p:cNvSpPr/>
          <p:nvPr/>
        </p:nvSpPr>
        <p:spPr>
          <a:xfrm>
            <a:off x="9235440" y="1874520"/>
            <a:ext cx="2194200" cy="5482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400" b="1" u="none" strike="noStrike">
                <a:solidFill>
                  <a:schemeClr val="dk2"/>
                </a:solidFill>
                <a:latin typeface="Calibri"/>
                <a:ea typeface="Calibri"/>
                <a:cs typeface="Calibri"/>
                <a:sym typeface="Calibri"/>
              </a:rPr>
              <a:t>Evaluation</a:t>
            </a:r>
            <a:endParaRPr sz="2400" b="0" u="none" strike="noStrike">
              <a:solidFill>
                <a:srgbClr val="000000"/>
              </a:solidFill>
              <a:latin typeface="Arial"/>
              <a:ea typeface="Arial"/>
              <a:cs typeface="Arial"/>
              <a:sym typeface="Arial"/>
            </a:endParaRPr>
          </a:p>
        </p:txBody>
      </p:sp>
      <p:sp>
        <p:nvSpPr>
          <p:cNvPr id="85" name="Google Shape;85;p9"/>
          <p:cNvSpPr/>
          <p:nvPr/>
        </p:nvSpPr>
        <p:spPr>
          <a:xfrm>
            <a:off x="8503920" y="2697480"/>
            <a:ext cx="2925720" cy="155412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Exact accuracy and within 1 star</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Macro-F1 and polarity accuracy</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Compared with always guessing 5 stars</a:t>
            </a:r>
            <a:endParaRPr sz="1600" b="0" u="none" strike="noStrike">
              <a:solidFill>
                <a:srgbClr val="000000"/>
              </a:solidFill>
              <a:latin typeface="Arial"/>
              <a:ea typeface="Arial"/>
              <a:cs typeface="Arial"/>
              <a:sym typeface="Arial"/>
            </a:endParaRPr>
          </a:p>
        </p:txBody>
      </p:sp>
      <p:sp>
        <p:nvSpPr>
          <p:cNvPr id="86" name="Google Shape;86;p9"/>
          <p:cNvSpPr/>
          <p:nvPr/>
        </p:nvSpPr>
        <p:spPr>
          <a:xfrm>
            <a:off x="548640" y="4800600"/>
            <a:ext cx="11063880" cy="5482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800" b="1" u="none" strike="noStrike">
                <a:solidFill>
                  <a:schemeClr val="dk2"/>
                </a:solidFill>
                <a:latin typeface="Calibri"/>
                <a:ea typeface="Calibri"/>
                <a:cs typeface="Calibri"/>
                <a:sym typeface="Calibri"/>
              </a:rPr>
              <a:t>We train one model per rating: 6 ratings × 3 models = 18 models. The vocabulary comes from the training data only.</a:t>
            </a:r>
            <a:endParaRPr sz="1800" b="0" u="none" strike="noStrike">
              <a:solidFill>
                <a:srgbClr val="000000"/>
              </a:solidFill>
              <a:latin typeface="Arial"/>
              <a:ea typeface="Arial"/>
              <a:cs typeface="Arial"/>
              <a:sym typeface="Arial"/>
            </a:endParaRPr>
          </a:p>
        </p:txBody>
      </p:sp>
      <p:sp>
        <p:nvSpPr>
          <p:cNvPr id="87" name="Google Shape;87;p9"/>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3</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0"/>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Naive Bayes gave the best accuracy</a:t>
            </a:r>
            <a:endParaRPr sz="3200" b="0" i="0" u="none" strike="noStrike" cap="none">
              <a:solidFill>
                <a:schemeClr val="dk1"/>
              </a:solidFill>
              <a:latin typeface="Calibri"/>
              <a:ea typeface="Calibri"/>
              <a:cs typeface="Calibri"/>
              <a:sym typeface="Calibri"/>
            </a:endParaRPr>
          </a:p>
        </p:txBody>
      </p:sp>
      <p:pic>
        <p:nvPicPr>
          <p:cNvPr id="94" name="Google Shape;94;p10"/>
          <p:cNvPicPr preferRelativeResize="0"/>
          <p:nvPr/>
        </p:nvPicPr>
        <p:blipFill rotWithShape="1">
          <a:blip r:embed="rId3">
            <a:alphaModFix/>
          </a:blip>
          <a:srcRect/>
          <a:stretch/>
        </p:blipFill>
        <p:spPr>
          <a:xfrm>
            <a:off x="548640" y="1463040"/>
            <a:ext cx="7680600" cy="4754520"/>
          </a:xfrm>
          <a:prstGeom prst="rect">
            <a:avLst/>
          </a:prstGeom>
          <a:noFill/>
          <a:ln>
            <a:noFill/>
          </a:ln>
        </p:spPr>
      </p:pic>
      <p:sp>
        <p:nvSpPr>
          <p:cNvPr id="95" name="Google Shape;95;p10"/>
          <p:cNvSpPr/>
          <p:nvPr/>
        </p:nvSpPr>
        <p:spPr>
          <a:xfrm>
            <a:off x="8595360" y="1600200"/>
            <a:ext cx="3017160" cy="3196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400" b="0" u="none" strike="noStrike">
                <a:solidFill>
                  <a:schemeClr val="accent6"/>
                </a:solidFill>
                <a:latin typeface="Calibri"/>
                <a:ea typeface="Calibri"/>
                <a:cs typeface="Calibri"/>
                <a:sym typeface="Calibri"/>
              </a:rPr>
              <a:t>Test star accuracy, overall rating</a:t>
            </a:r>
            <a:endParaRPr sz="1400" b="0" u="none" strike="noStrike">
              <a:solidFill>
                <a:srgbClr val="000000"/>
              </a:solidFill>
              <a:latin typeface="Arial"/>
              <a:ea typeface="Arial"/>
              <a:cs typeface="Arial"/>
              <a:sym typeface="Arial"/>
            </a:endParaRPr>
          </a:p>
        </p:txBody>
      </p:sp>
      <p:sp>
        <p:nvSpPr>
          <p:cNvPr id="96" name="Google Shape;96;p10"/>
          <p:cNvSpPr/>
          <p:nvPr/>
        </p:nvSpPr>
        <p:spPr>
          <a:xfrm>
            <a:off x="8595360" y="1920240"/>
            <a:ext cx="3017160" cy="868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5400" b="1" u="none" strike="noStrike">
                <a:solidFill>
                  <a:schemeClr val="accent2"/>
                </a:solidFill>
                <a:latin typeface="Cambria"/>
                <a:ea typeface="Cambria"/>
                <a:cs typeface="Cambria"/>
                <a:sym typeface="Cambria"/>
              </a:rPr>
              <a:t>65.1%</a:t>
            </a:r>
            <a:endParaRPr sz="5400" b="0" u="none" strike="noStrike">
              <a:solidFill>
                <a:srgbClr val="000000"/>
              </a:solidFill>
              <a:latin typeface="Arial"/>
              <a:ea typeface="Arial"/>
              <a:cs typeface="Arial"/>
              <a:sym typeface="Arial"/>
            </a:endParaRPr>
          </a:p>
        </p:txBody>
      </p:sp>
      <p:sp>
        <p:nvSpPr>
          <p:cNvPr id="97" name="Google Shape;97;p10"/>
          <p:cNvSpPr/>
          <p:nvPr/>
        </p:nvSpPr>
        <p:spPr>
          <a:xfrm>
            <a:off x="8595360" y="2788920"/>
            <a:ext cx="301716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400" b="0" u="none" strike="noStrike">
                <a:solidFill>
                  <a:schemeClr val="dk1"/>
                </a:solidFill>
                <a:latin typeface="Calibri"/>
                <a:ea typeface="Calibri"/>
                <a:cs typeface="Calibri"/>
                <a:sym typeface="Calibri"/>
              </a:rPr>
              <a:t>Naive Bayes, and 97% of its guesses are within 1 star</a:t>
            </a:r>
            <a:endParaRPr sz="1400" b="0" u="none" strike="noStrike">
              <a:solidFill>
                <a:srgbClr val="000000"/>
              </a:solidFill>
              <a:latin typeface="Arial"/>
              <a:ea typeface="Arial"/>
              <a:cs typeface="Arial"/>
              <a:sym typeface="Arial"/>
            </a:endParaRPr>
          </a:p>
        </p:txBody>
      </p:sp>
      <p:sp>
        <p:nvSpPr>
          <p:cNvPr id="98" name="Google Shape;98;p10"/>
          <p:cNvSpPr/>
          <p:nvPr/>
        </p:nvSpPr>
        <p:spPr>
          <a:xfrm>
            <a:off x="8595360" y="3383280"/>
            <a:ext cx="3017160" cy="2651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500" b="1" u="none" strike="noStrike">
                <a:solidFill>
                  <a:schemeClr val="dk1"/>
                </a:solidFill>
                <a:latin typeface="Calibri"/>
                <a:ea typeface="Calibri"/>
                <a:cs typeface="Calibri"/>
                <a:sym typeface="Calibri"/>
              </a:rPr>
              <a:t>SVM 61.8%, Ridge 56.0%, always-5-stars 43.2%</a:t>
            </a:r>
            <a:endParaRPr sz="1500" b="0" u="none" strike="noStrike">
              <a:solidFill>
                <a:srgbClr val="000000"/>
              </a:solidFill>
              <a:latin typeface="Arial"/>
              <a:ea typeface="Arial"/>
              <a:cs typeface="Arial"/>
              <a:sym typeface="Arial"/>
            </a:endParaRPr>
          </a:p>
          <a:p>
            <a:pPr marL="0" marR="0" lvl="0" indent="0" algn="l" rtl="0">
              <a:lnSpc>
                <a:spcPct val="100000"/>
              </a:lnSpc>
              <a:spcBef>
                <a:spcPts val="1001"/>
              </a:spcBef>
              <a:spcAft>
                <a:spcPts val="0"/>
              </a:spcAft>
              <a:buNone/>
            </a:pPr>
            <a:r>
              <a:rPr lang="en-US" sz="1500" b="0" u="none" strike="noStrike">
                <a:solidFill>
                  <a:schemeClr val="dk1"/>
                </a:solidFill>
                <a:latin typeface="Calibri"/>
                <a:ea typeface="Calibri"/>
                <a:cs typeface="Calibri"/>
                <a:sym typeface="Calibri"/>
              </a:rPr>
              <a:t>We pick Naive Bayes for accuracy. We kept the SVM too because it did better on macro-F1 for rooms and location.</a:t>
            </a:r>
            <a:endParaRPr sz="1500" b="0" u="none" strike="noStrike">
              <a:solidFill>
                <a:srgbClr val="000000"/>
              </a:solidFill>
              <a:latin typeface="Arial"/>
              <a:ea typeface="Arial"/>
              <a:cs typeface="Arial"/>
              <a:sym typeface="Arial"/>
            </a:endParaRPr>
          </a:p>
        </p:txBody>
      </p:sp>
      <p:sp>
        <p:nvSpPr>
          <p:cNvPr id="99" name="Google Shape;99;p10"/>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4</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1"/>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Location: barely better than guessing</a:t>
            </a:r>
            <a:endParaRPr sz="3200" b="0" i="0" u="none" strike="noStrike" cap="none">
              <a:solidFill>
                <a:schemeClr val="dk1"/>
              </a:solidFill>
              <a:latin typeface="Calibri"/>
              <a:ea typeface="Calibri"/>
              <a:cs typeface="Calibri"/>
              <a:sym typeface="Calibri"/>
            </a:endParaRPr>
          </a:p>
        </p:txBody>
      </p:sp>
      <p:pic>
        <p:nvPicPr>
          <p:cNvPr id="106" name="Google Shape;106;p11"/>
          <p:cNvPicPr preferRelativeResize="0"/>
          <p:nvPr/>
        </p:nvPicPr>
        <p:blipFill rotWithShape="1">
          <a:blip r:embed="rId3">
            <a:alphaModFix/>
          </a:blip>
          <a:srcRect/>
          <a:stretch/>
        </p:blipFill>
        <p:spPr>
          <a:xfrm>
            <a:off x="548640" y="1463040"/>
            <a:ext cx="6949080" cy="4754520"/>
          </a:xfrm>
          <a:prstGeom prst="rect">
            <a:avLst/>
          </a:prstGeom>
          <a:noFill/>
          <a:ln>
            <a:noFill/>
          </a:ln>
        </p:spPr>
      </p:pic>
      <p:sp>
        <p:nvSpPr>
          <p:cNvPr id="107" name="Google Shape;107;p11"/>
          <p:cNvSpPr/>
          <p:nvPr/>
        </p:nvSpPr>
        <p:spPr>
          <a:xfrm>
            <a:off x="7863840" y="1600200"/>
            <a:ext cx="3748680" cy="868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5400" b="1" u="none" strike="noStrike">
                <a:solidFill>
                  <a:schemeClr val="accent2"/>
                </a:solidFill>
                <a:latin typeface="Cambria"/>
                <a:ea typeface="Cambria"/>
                <a:cs typeface="Cambria"/>
                <a:sym typeface="Cambria"/>
              </a:rPr>
              <a:t>+0.8 pts</a:t>
            </a:r>
            <a:endParaRPr sz="5400" b="0" u="none" strike="noStrike">
              <a:solidFill>
                <a:srgbClr val="000000"/>
              </a:solidFill>
              <a:latin typeface="Arial"/>
              <a:ea typeface="Arial"/>
              <a:cs typeface="Arial"/>
              <a:sym typeface="Arial"/>
            </a:endParaRPr>
          </a:p>
        </p:txBody>
      </p:sp>
      <p:sp>
        <p:nvSpPr>
          <p:cNvPr id="108" name="Google Shape;108;p11"/>
          <p:cNvSpPr/>
          <p:nvPr/>
        </p:nvSpPr>
        <p:spPr>
          <a:xfrm>
            <a:off x="7863840" y="2468880"/>
            <a:ext cx="3748680" cy="4568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improvement for location over guessing 5 stars</a:t>
            </a:r>
            <a:endParaRPr sz="1600" b="0" u="none" strike="noStrike">
              <a:solidFill>
                <a:srgbClr val="000000"/>
              </a:solidFill>
              <a:latin typeface="Arial"/>
              <a:ea typeface="Arial"/>
              <a:cs typeface="Arial"/>
              <a:sym typeface="Arial"/>
            </a:endParaRPr>
          </a:p>
        </p:txBody>
      </p:sp>
      <p:sp>
        <p:nvSpPr>
          <p:cNvPr id="109" name="Google Shape;109;p11"/>
          <p:cNvSpPr/>
          <p:nvPr/>
        </p:nvSpPr>
        <p:spPr>
          <a:xfrm>
            <a:off x="7863840" y="3200400"/>
            <a:ext cx="3748680" cy="292572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64% of location ratings are already 5 stars.</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For polarity, guessing positive (87.6%) beats all our models (86.1–86.2%).</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001"/>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The other five ratings improve by 6.7 to 21.9 points, so the models do learn from the text there.</a:t>
            </a:r>
            <a:endParaRPr sz="1600" b="0" u="none" strike="noStrike">
              <a:solidFill>
                <a:srgbClr val="000000"/>
              </a:solidFill>
              <a:latin typeface="Arial"/>
              <a:ea typeface="Arial"/>
              <a:cs typeface="Arial"/>
              <a:sym typeface="Arial"/>
            </a:endParaRPr>
          </a:p>
        </p:txBody>
      </p:sp>
      <p:sp>
        <p:nvSpPr>
          <p:cNvPr id="110" name="Google Shape;110;p11"/>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5</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2"/>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Does training on each aspect's own ratings help?</a:t>
            </a:r>
            <a:endParaRPr sz="3200" b="0" i="0" u="none" strike="noStrike" cap="none">
              <a:solidFill>
                <a:schemeClr val="dk1"/>
              </a:solidFill>
              <a:latin typeface="Calibri"/>
              <a:ea typeface="Calibri"/>
              <a:cs typeface="Calibri"/>
              <a:sym typeface="Calibri"/>
            </a:endParaRPr>
          </a:p>
        </p:txBody>
      </p:sp>
      <p:pic>
        <p:nvPicPr>
          <p:cNvPr id="117" name="Google Shape;117;p12"/>
          <p:cNvPicPr preferRelativeResize="0"/>
          <p:nvPr/>
        </p:nvPicPr>
        <p:blipFill rotWithShape="1">
          <a:blip r:embed="rId3">
            <a:alphaModFix/>
          </a:blip>
          <a:srcRect/>
          <a:stretch/>
        </p:blipFill>
        <p:spPr>
          <a:xfrm>
            <a:off x="548640" y="1463040"/>
            <a:ext cx="7131960" cy="4754520"/>
          </a:xfrm>
          <a:prstGeom prst="rect">
            <a:avLst/>
          </a:prstGeom>
          <a:noFill/>
          <a:ln>
            <a:noFill/>
          </a:ln>
        </p:spPr>
      </p:pic>
      <p:sp>
        <p:nvSpPr>
          <p:cNvPr id="118" name="Google Shape;118;p12"/>
          <p:cNvSpPr/>
          <p:nvPr/>
        </p:nvSpPr>
        <p:spPr>
          <a:xfrm>
            <a:off x="8138160" y="1600200"/>
            <a:ext cx="3474360" cy="3654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400" b="0" u="none" strike="noStrike">
                <a:solidFill>
                  <a:schemeClr val="accent6"/>
                </a:solidFill>
                <a:latin typeface="Calibri"/>
                <a:ea typeface="Calibri"/>
                <a:cs typeface="Calibri"/>
                <a:sym typeface="Calibri"/>
              </a:rPr>
              <a:t>Linear SVM accuracy: aspect-trained minus overall-trained</a:t>
            </a:r>
            <a:endParaRPr sz="1400" b="0" u="none" strike="noStrike">
              <a:solidFill>
                <a:srgbClr val="000000"/>
              </a:solidFill>
              <a:latin typeface="Arial"/>
              <a:ea typeface="Arial"/>
              <a:cs typeface="Arial"/>
              <a:sym typeface="Arial"/>
            </a:endParaRPr>
          </a:p>
        </p:txBody>
      </p:sp>
      <p:sp>
        <p:nvSpPr>
          <p:cNvPr id="119" name="Google Shape;119;p12"/>
          <p:cNvSpPr/>
          <p:nvPr/>
        </p:nvSpPr>
        <p:spPr>
          <a:xfrm>
            <a:off x="8138160" y="2057400"/>
            <a:ext cx="2011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Location</a:t>
            </a:r>
            <a:endParaRPr sz="1600" b="0" u="none" strike="noStrike">
              <a:solidFill>
                <a:srgbClr val="000000"/>
              </a:solidFill>
              <a:latin typeface="Arial"/>
              <a:ea typeface="Arial"/>
              <a:cs typeface="Arial"/>
              <a:sym typeface="Arial"/>
            </a:endParaRPr>
          </a:p>
        </p:txBody>
      </p:sp>
      <p:sp>
        <p:nvSpPr>
          <p:cNvPr id="120" name="Google Shape;120;p12"/>
          <p:cNvSpPr/>
          <p:nvPr/>
        </p:nvSpPr>
        <p:spPr>
          <a:xfrm>
            <a:off x="10149840" y="2057400"/>
            <a:ext cx="1462680" cy="45684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b="1" u="none" strike="noStrike">
                <a:solidFill>
                  <a:schemeClr val="accent4"/>
                </a:solidFill>
                <a:latin typeface="Calibri"/>
                <a:ea typeface="Calibri"/>
                <a:cs typeface="Calibri"/>
                <a:sym typeface="Calibri"/>
              </a:rPr>
              <a:t>+0.132</a:t>
            </a:r>
            <a:endParaRPr sz="2000" b="0" u="none" strike="noStrike">
              <a:solidFill>
                <a:srgbClr val="000000"/>
              </a:solidFill>
              <a:latin typeface="Arial"/>
              <a:ea typeface="Arial"/>
              <a:cs typeface="Arial"/>
              <a:sym typeface="Arial"/>
            </a:endParaRPr>
          </a:p>
        </p:txBody>
      </p:sp>
      <p:sp>
        <p:nvSpPr>
          <p:cNvPr id="121" name="Google Shape;121;p12"/>
          <p:cNvSpPr/>
          <p:nvPr/>
        </p:nvSpPr>
        <p:spPr>
          <a:xfrm>
            <a:off x="8138160" y="2624400"/>
            <a:ext cx="2011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Cleanliness</a:t>
            </a:r>
            <a:endParaRPr sz="1600" b="0" u="none" strike="noStrike">
              <a:solidFill>
                <a:srgbClr val="000000"/>
              </a:solidFill>
              <a:latin typeface="Arial"/>
              <a:ea typeface="Arial"/>
              <a:cs typeface="Arial"/>
              <a:sym typeface="Arial"/>
            </a:endParaRPr>
          </a:p>
        </p:txBody>
      </p:sp>
      <p:sp>
        <p:nvSpPr>
          <p:cNvPr id="122" name="Google Shape;122;p12"/>
          <p:cNvSpPr/>
          <p:nvPr/>
        </p:nvSpPr>
        <p:spPr>
          <a:xfrm>
            <a:off x="10149840" y="2624400"/>
            <a:ext cx="1462680" cy="45684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b="1" u="none" strike="noStrike">
                <a:solidFill>
                  <a:schemeClr val="accent4"/>
                </a:solidFill>
                <a:latin typeface="Calibri"/>
                <a:ea typeface="Calibri"/>
                <a:cs typeface="Calibri"/>
                <a:sym typeface="Calibri"/>
              </a:rPr>
              <a:t>+0.033</a:t>
            </a:r>
            <a:endParaRPr sz="2000" b="0" u="none" strike="noStrike">
              <a:solidFill>
                <a:srgbClr val="000000"/>
              </a:solidFill>
              <a:latin typeface="Arial"/>
              <a:ea typeface="Arial"/>
              <a:cs typeface="Arial"/>
              <a:sym typeface="Arial"/>
            </a:endParaRPr>
          </a:p>
        </p:txBody>
      </p:sp>
      <p:sp>
        <p:nvSpPr>
          <p:cNvPr id="123" name="Google Shape;123;p12"/>
          <p:cNvSpPr/>
          <p:nvPr/>
        </p:nvSpPr>
        <p:spPr>
          <a:xfrm>
            <a:off x="8138160" y="3191400"/>
            <a:ext cx="2011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Sleep quality</a:t>
            </a:r>
            <a:endParaRPr sz="1600" b="0" u="none" strike="noStrike">
              <a:solidFill>
                <a:srgbClr val="000000"/>
              </a:solidFill>
              <a:latin typeface="Arial"/>
              <a:ea typeface="Arial"/>
              <a:cs typeface="Arial"/>
              <a:sym typeface="Arial"/>
            </a:endParaRPr>
          </a:p>
        </p:txBody>
      </p:sp>
      <p:sp>
        <p:nvSpPr>
          <p:cNvPr id="124" name="Google Shape;124;p12"/>
          <p:cNvSpPr/>
          <p:nvPr/>
        </p:nvSpPr>
        <p:spPr>
          <a:xfrm>
            <a:off x="10149840" y="3191400"/>
            <a:ext cx="1462680" cy="45684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b="1" u="none" strike="noStrike">
                <a:solidFill>
                  <a:schemeClr val="accent4"/>
                </a:solidFill>
                <a:latin typeface="Calibri"/>
                <a:ea typeface="Calibri"/>
                <a:cs typeface="Calibri"/>
                <a:sym typeface="Calibri"/>
              </a:rPr>
              <a:t>+0.014</a:t>
            </a:r>
            <a:endParaRPr sz="2000" b="0" u="none" strike="noStrike">
              <a:solidFill>
                <a:srgbClr val="000000"/>
              </a:solidFill>
              <a:latin typeface="Arial"/>
              <a:ea typeface="Arial"/>
              <a:cs typeface="Arial"/>
              <a:sym typeface="Arial"/>
            </a:endParaRPr>
          </a:p>
        </p:txBody>
      </p:sp>
      <p:sp>
        <p:nvSpPr>
          <p:cNvPr id="125" name="Google Shape;125;p12"/>
          <p:cNvSpPr/>
          <p:nvPr/>
        </p:nvSpPr>
        <p:spPr>
          <a:xfrm>
            <a:off x="8138160" y="3758040"/>
            <a:ext cx="2011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Rooms</a:t>
            </a:r>
            <a:endParaRPr sz="1600" b="0" u="none" strike="noStrike">
              <a:solidFill>
                <a:srgbClr val="000000"/>
              </a:solidFill>
              <a:latin typeface="Arial"/>
              <a:ea typeface="Arial"/>
              <a:cs typeface="Arial"/>
              <a:sym typeface="Arial"/>
            </a:endParaRPr>
          </a:p>
        </p:txBody>
      </p:sp>
      <p:sp>
        <p:nvSpPr>
          <p:cNvPr id="126" name="Google Shape;126;p12"/>
          <p:cNvSpPr/>
          <p:nvPr/>
        </p:nvSpPr>
        <p:spPr>
          <a:xfrm>
            <a:off x="10149840" y="3758040"/>
            <a:ext cx="1462680" cy="45684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b="1" u="none" strike="noStrike">
                <a:solidFill>
                  <a:schemeClr val="accent2"/>
                </a:solidFill>
                <a:latin typeface="Calibri"/>
                <a:ea typeface="Calibri"/>
                <a:cs typeface="Calibri"/>
                <a:sym typeface="Calibri"/>
              </a:rPr>
              <a:t>−0.009</a:t>
            </a:r>
            <a:endParaRPr sz="2000" b="0" u="none" strike="noStrike">
              <a:solidFill>
                <a:srgbClr val="000000"/>
              </a:solidFill>
              <a:latin typeface="Arial"/>
              <a:ea typeface="Arial"/>
              <a:cs typeface="Arial"/>
              <a:sym typeface="Arial"/>
            </a:endParaRPr>
          </a:p>
        </p:txBody>
      </p:sp>
      <p:sp>
        <p:nvSpPr>
          <p:cNvPr id="127" name="Google Shape;127;p12"/>
          <p:cNvSpPr/>
          <p:nvPr/>
        </p:nvSpPr>
        <p:spPr>
          <a:xfrm>
            <a:off x="8138160" y="4325040"/>
            <a:ext cx="2011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u="none" strike="noStrike">
                <a:solidFill>
                  <a:schemeClr val="dk1"/>
                </a:solidFill>
                <a:latin typeface="Calibri"/>
                <a:ea typeface="Calibri"/>
                <a:cs typeface="Calibri"/>
                <a:sym typeface="Calibri"/>
              </a:rPr>
              <a:t>Value</a:t>
            </a:r>
            <a:endParaRPr sz="1600" b="0" u="none" strike="noStrike">
              <a:solidFill>
                <a:srgbClr val="000000"/>
              </a:solidFill>
              <a:latin typeface="Arial"/>
              <a:ea typeface="Arial"/>
              <a:cs typeface="Arial"/>
              <a:sym typeface="Arial"/>
            </a:endParaRPr>
          </a:p>
        </p:txBody>
      </p:sp>
      <p:sp>
        <p:nvSpPr>
          <p:cNvPr id="128" name="Google Shape;128;p12"/>
          <p:cNvSpPr/>
          <p:nvPr/>
        </p:nvSpPr>
        <p:spPr>
          <a:xfrm>
            <a:off x="10149840" y="4325040"/>
            <a:ext cx="1462680" cy="45684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r>
              <a:rPr lang="en-US" sz="2000" b="1" u="none" strike="noStrike">
                <a:solidFill>
                  <a:schemeClr val="accent2"/>
                </a:solidFill>
                <a:latin typeface="Calibri"/>
                <a:ea typeface="Calibri"/>
                <a:cs typeface="Calibri"/>
                <a:sym typeface="Calibri"/>
              </a:rPr>
              <a:t>−0.017</a:t>
            </a:r>
            <a:endParaRPr sz="2000" b="0" u="none" strike="noStrike">
              <a:solidFill>
                <a:srgbClr val="000000"/>
              </a:solidFill>
              <a:latin typeface="Arial"/>
              <a:ea typeface="Arial"/>
              <a:cs typeface="Arial"/>
              <a:sym typeface="Arial"/>
            </a:endParaRPr>
          </a:p>
        </p:txBody>
      </p:sp>
      <p:sp>
        <p:nvSpPr>
          <p:cNvPr id="129" name="Google Shape;129;p12"/>
          <p:cNvSpPr/>
          <p:nvPr/>
        </p:nvSpPr>
        <p:spPr>
          <a:xfrm>
            <a:off x="8138160" y="4983480"/>
            <a:ext cx="3474360" cy="10969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500" b="0" u="none" strike="noStrike">
                <a:solidFill>
                  <a:schemeClr val="dk1"/>
                </a:solidFill>
                <a:latin typeface="Calibri"/>
                <a:ea typeface="Calibri"/>
                <a:cs typeface="Calibri"/>
                <a:sym typeface="Calibri"/>
              </a:rPr>
              <a:t>Helps for 3 of 5. The +0.132 for location is mostly the 5-star skew; cleanliness is the clearest real gain.</a:t>
            </a:r>
            <a:endParaRPr sz="1500" b="0" u="none" strike="noStrike">
              <a:solidFill>
                <a:srgbClr val="000000"/>
              </a:solidFill>
              <a:latin typeface="Arial"/>
              <a:ea typeface="Arial"/>
              <a:cs typeface="Arial"/>
              <a:sym typeface="Arial"/>
            </a:endParaRPr>
          </a:p>
        </p:txBody>
      </p:sp>
      <p:sp>
        <p:nvSpPr>
          <p:cNvPr id="130" name="Google Shape;130;p12"/>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6</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3"/>
          <p:cNvSpPr txBox="1">
            <a:spLocks noGrp="1"/>
          </p:cNvSpPr>
          <p:nvPr>
            <p:ph type="title" idx="4294967295"/>
          </p:nvPr>
        </p:nvSpPr>
        <p:spPr>
          <a:xfrm>
            <a:off x="548640" y="320040"/>
            <a:ext cx="11063880" cy="100548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dk2"/>
              </a:buClr>
              <a:buSzPts val="3200"/>
              <a:buFont typeface="Cambria"/>
              <a:buNone/>
            </a:pPr>
            <a:r>
              <a:rPr lang="en-US" sz="3200" b="1" i="0" u="none" strike="noStrike" cap="none">
                <a:solidFill>
                  <a:schemeClr val="dk2"/>
                </a:solidFill>
                <a:latin typeface="Cambria"/>
                <a:ea typeface="Cambria"/>
                <a:cs typeface="Cambria"/>
                <a:sym typeface="Cambria"/>
              </a:rPr>
              <a:t>Live demo: predict_review(text)</a:t>
            </a:r>
            <a:endParaRPr sz="3200" b="0" i="0" u="none" strike="noStrike" cap="none">
              <a:solidFill>
                <a:schemeClr val="dk1"/>
              </a:solidFill>
              <a:latin typeface="Calibri"/>
              <a:ea typeface="Calibri"/>
              <a:cs typeface="Calibri"/>
              <a:sym typeface="Calibri"/>
            </a:endParaRPr>
          </a:p>
        </p:txBody>
      </p:sp>
      <p:sp>
        <p:nvSpPr>
          <p:cNvPr id="137" name="Google Shape;137;p13"/>
          <p:cNvSpPr/>
          <p:nvPr/>
        </p:nvSpPr>
        <p:spPr>
          <a:xfrm>
            <a:off x="548640" y="1508760"/>
            <a:ext cx="5851800" cy="1371240"/>
          </a:xfrm>
          <a:prstGeom prst="roundRect">
            <a:avLst>
              <a:gd name="adj" fmla="val 8000"/>
            </a:avLst>
          </a:prstGeom>
          <a:solidFill>
            <a:schemeClr val="lt2"/>
          </a:solidFill>
          <a:ln w="12700" cap="flat" cmpd="sng">
            <a:solidFill>
              <a:srgbClr val="EAF3F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38" name="Google Shape;138;p13"/>
          <p:cNvSpPr/>
          <p:nvPr/>
        </p:nvSpPr>
        <p:spPr>
          <a:xfrm>
            <a:off x="777240" y="1554480"/>
            <a:ext cx="5394600" cy="1279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600" b="0" i="1" u="none" strike="noStrike">
                <a:solidFill>
                  <a:schemeClr val="dk1"/>
                </a:solidFill>
                <a:latin typeface="Calibri"/>
                <a:ea typeface="Calibri"/>
                <a:cs typeface="Calibri"/>
                <a:sym typeface="Calibri"/>
              </a:rPr>
              <a:t>“The room was spotless and the staff were friendly, but the location was far from everything and noisy at night.”</a:t>
            </a:r>
            <a:endParaRPr sz="1600" b="0" u="none" strike="noStrike">
              <a:solidFill>
                <a:srgbClr val="000000"/>
              </a:solidFill>
              <a:latin typeface="Arial"/>
              <a:ea typeface="Arial"/>
              <a:cs typeface="Arial"/>
              <a:sym typeface="Arial"/>
            </a:endParaRPr>
          </a:p>
        </p:txBody>
      </p:sp>
      <p:graphicFrame>
        <p:nvGraphicFramePr>
          <p:cNvPr id="139" name="Google Shape;139;p13"/>
          <p:cNvGraphicFramePr/>
          <p:nvPr/>
        </p:nvGraphicFramePr>
        <p:xfrm>
          <a:off x="548640" y="3108960"/>
          <a:ext cx="5852175" cy="2686250"/>
        </p:xfrm>
        <a:graphic>
          <a:graphicData uri="http://schemas.openxmlformats.org/drawingml/2006/table">
            <a:tbl>
              <a:tblPr>
                <a:noFill/>
                <a:tableStyleId>{165F3599-DF9A-4929-8EFE-D328E7F35198}</a:tableStyleId>
              </a:tblPr>
              <a:tblGrid>
                <a:gridCol w="2377450"/>
                <a:gridCol w="1463050"/>
                <a:gridCol w="2011675"/>
              </a:tblGrid>
              <a:tr h="383750">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Target</a:t>
                      </a:r>
                      <a:endParaRPr sz="14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0F4C5C"/>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Stars</a:t>
                      </a:r>
                      <a:endParaRPr sz="14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0F4C5C"/>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Polarity</a:t>
                      </a:r>
                      <a:endParaRPr sz="1400" b="0" u="none" strike="noStrike" cap="none">
                        <a:solidFill>
                          <a:srgbClr val="FFFFFF"/>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0F4C5C"/>
                    </a:solidFill>
                  </a:tcPr>
                </a:tc>
              </a:tr>
              <a:tr h="383750">
                <a:tc>
                  <a:txBody>
                    <a:bodyPr/>
                    <a:lstStyle/>
                    <a:p>
                      <a:pPr marL="0" marR="0" lvl="0" indent="0" algn="l"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Overall</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4</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positive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r>
              <a:tr h="383750">
                <a:tc>
                  <a:txBody>
                    <a:bodyPr/>
                    <a:lstStyle/>
                    <a:p>
                      <a:pPr marL="0" marR="0" lvl="0" indent="0" algn="l"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Value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3</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neutral</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r>
              <a:tr h="383750">
                <a:tc>
                  <a:txBody>
                    <a:bodyPr/>
                    <a:lstStyle/>
                    <a:p>
                      <a:pPr marL="0" marR="0" lvl="0" indent="0" algn="l"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Rooms</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5</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positive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r>
              <a:tr h="383750">
                <a:tc>
                  <a:txBody>
                    <a:bodyPr/>
                    <a:lstStyle/>
                    <a:p>
                      <a:pPr marL="0" marR="0" lvl="0" indent="0" algn="l"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Location</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5</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positive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r>
              <a:tr h="383750">
                <a:tc>
                  <a:txBody>
                    <a:bodyPr/>
                    <a:lstStyle/>
                    <a:p>
                      <a:pPr marL="0" marR="0" lvl="0" indent="0" algn="l"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Cleanliness</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5</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US" sz="1400" b="0" u="none" strike="noStrike" cap="none">
                          <a:solidFill>
                            <a:srgbClr val="1B2B2F"/>
                          </a:solidFill>
                          <a:latin typeface="Calibri"/>
                          <a:ea typeface="Calibri"/>
                          <a:cs typeface="Calibri"/>
                          <a:sym typeface="Calibri"/>
                        </a:rPr>
                        <a:t>positive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FFFFF"/>
                    </a:solidFill>
                  </a:tcPr>
                </a:tc>
              </a:tr>
              <a:tr h="383750">
                <a:tc>
                  <a:txBody>
                    <a:bodyPr/>
                    <a:lstStyle/>
                    <a:p>
                      <a:pPr marL="0" marR="0" lvl="0" indent="0" algn="l"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Sleep quality</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5</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1B2B2F"/>
                          </a:solidFill>
                          <a:latin typeface="Calibri"/>
                          <a:ea typeface="Calibri"/>
                          <a:cs typeface="Calibri"/>
                          <a:sym typeface="Calibri"/>
                        </a:rPr>
                        <a:t>positive</a:t>
                      </a:r>
                      <a:endParaRPr sz="1400" b="0" u="none" strike="noStrike" cap="none">
                        <a:solidFill>
                          <a:srgbClr val="000000"/>
                        </a:solidFill>
                        <a:latin typeface="Arial"/>
                        <a:ea typeface="Arial"/>
                        <a:cs typeface="Arial"/>
                        <a:sym typeface="Arial"/>
                      </a:endParaRPr>
                    </a:p>
                  </a:txBody>
                  <a:tcPr marL="91450" marR="91450" marT="45725" marB="45725" anchor="ctr">
                    <a:lnL w="12225" cap="flat" cmpd="sng">
                      <a:solidFill>
                        <a:srgbClr val="D5E0E2"/>
                      </a:solidFill>
                      <a:prstDash val="solid"/>
                      <a:round/>
                      <a:headEnd type="none" w="sm" len="sm"/>
                      <a:tailEnd type="none" w="sm" len="sm"/>
                    </a:lnL>
                    <a:lnR w="12225" cap="flat" cmpd="sng">
                      <a:solidFill>
                        <a:srgbClr val="D5E0E2"/>
                      </a:solidFill>
                      <a:prstDash val="solid"/>
                      <a:round/>
                      <a:headEnd type="none" w="sm" len="sm"/>
                      <a:tailEnd type="none" w="sm" len="sm"/>
                    </a:lnR>
                    <a:lnT w="12225" cap="flat" cmpd="sng">
                      <a:solidFill>
                        <a:srgbClr val="D5E0E2"/>
                      </a:solidFill>
                      <a:prstDash val="solid"/>
                      <a:round/>
                      <a:headEnd type="none" w="sm" len="sm"/>
                      <a:tailEnd type="none" w="sm" len="sm"/>
                    </a:lnT>
                    <a:lnB w="12225" cap="flat" cmpd="sng">
                      <a:solidFill>
                        <a:srgbClr val="D5E0E2"/>
                      </a:solidFill>
                      <a:prstDash val="solid"/>
                      <a:round/>
                      <a:headEnd type="none" w="sm" len="sm"/>
                      <a:tailEnd type="none" w="sm" len="sm"/>
                    </a:lnB>
                    <a:solidFill>
                      <a:srgbClr val="FDE3D0"/>
                    </a:solidFill>
                  </a:tcPr>
                </a:tc>
              </a:tr>
            </a:tbl>
          </a:graphicData>
        </a:graphic>
      </p:graphicFrame>
      <p:sp>
        <p:nvSpPr>
          <p:cNvPr id="140" name="Google Shape;140;p13"/>
          <p:cNvSpPr/>
          <p:nvPr/>
        </p:nvSpPr>
        <p:spPr>
          <a:xfrm>
            <a:off x="6766560" y="1508760"/>
            <a:ext cx="4845960" cy="4480200"/>
          </a:xfrm>
          <a:prstGeom prst="roundRect">
            <a:avLst>
              <a:gd name="adj" fmla="val 2449"/>
            </a:avLst>
          </a:prstGeom>
          <a:solidFill>
            <a:schemeClr val="lt2"/>
          </a:solidFill>
          <a:ln w="12700" cap="flat" cmpd="sng">
            <a:solidFill>
              <a:srgbClr val="EAF3F4"/>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41" name="Google Shape;141;p13"/>
          <p:cNvSpPr/>
          <p:nvPr/>
        </p:nvSpPr>
        <p:spPr>
          <a:xfrm>
            <a:off x="7040880" y="1691640"/>
            <a:ext cx="429732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200" b="1" u="none" strike="noStrike">
                <a:solidFill>
                  <a:schemeClr val="accent2"/>
                </a:solidFill>
                <a:latin typeface="Calibri"/>
                <a:ea typeface="Calibri"/>
                <a:cs typeface="Calibri"/>
                <a:sym typeface="Calibri"/>
              </a:rPr>
              <a:t>Where it goes wrong</a:t>
            </a:r>
            <a:endParaRPr sz="2200" b="0" u="none" strike="noStrike">
              <a:solidFill>
                <a:srgbClr val="000000"/>
              </a:solidFill>
              <a:latin typeface="Arial"/>
              <a:ea typeface="Arial"/>
              <a:cs typeface="Arial"/>
              <a:sym typeface="Arial"/>
            </a:endParaRPr>
          </a:p>
        </p:txBody>
      </p:sp>
      <p:sp>
        <p:nvSpPr>
          <p:cNvPr id="142" name="Google Shape;142;p13"/>
          <p:cNvSpPr/>
          <p:nvPr/>
        </p:nvSpPr>
        <p:spPr>
          <a:xfrm>
            <a:off x="7040880" y="2286000"/>
            <a:ext cx="4297320" cy="356580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The model reads the whole review, so it can't tell which part is about which aspect.</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199"/>
              </a:spcBef>
              <a:spcAft>
                <a:spcPts val="0"/>
              </a:spcAft>
              <a:buClr>
                <a:schemeClr val="dk1"/>
              </a:buClr>
              <a:buSzPts val="1600"/>
              <a:buFont typeface="Noto Sans Symbols"/>
              <a:buChar char="∙"/>
            </a:pPr>
            <a:r>
              <a:rPr lang="en-US" sz="1600" b="0" u="none" strike="noStrike">
                <a:solidFill>
                  <a:schemeClr val="dk1"/>
                </a:solidFill>
                <a:latin typeface="Calibri"/>
                <a:ea typeface="Calibri"/>
                <a:cs typeface="Calibri"/>
                <a:sym typeface="Calibri"/>
              </a:rPr>
              <a:t>The praise pushes location and sleep quality to 5 stars, even though the guest said “far from everything” and “noisy at night”.</a:t>
            </a:r>
            <a:endParaRPr sz="1600" b="0" u="none" strike="noStrike">
              <a:solidFill>
                <a:srgbClr val="000000"/>
              </a:solidFill>
              <a:latin typeface="Arial"/>
              <a:ea typeface="Arial"/>
              <a:cs typeface="Arial"/>
              <a:sym typeface="Arial"/>
            </a:endParaRPr>
          </a:p>
          <a:p>
            <a:pPr marL="343080" marR="0" lvl="0" indent="-343080" algn="l" rtl="0">
              <a:lnSpc>
                <a:spcPct val="100000"/>
              </a:lnSpc>
              <a:spcBef>
                <a:spcPts val="1199"/>
              </a:spcBef>
              <a:spcAft>
                <a:spcPts val="0"/>
              </a:spcAft>
              <a:buClr>
                <a:schemeClr val="dk1"/>
              </a:buClr>
              <a:buSzPts val="1600"/>
              <a:buFont typeface="Noto Sans Symbols"/>
              <a:buChar char="∙"/>
            </a:pPr>
            <a:r>
              <a:rPr lang="en-US" sz="1600" b="1" u="none" strike="noStrike">
                <a:solidFill>
                  <a:schemeClr val="dk1"/>
                </a:solidFill>
                <a:latin typeface="Calibri"/>
                <a:ea typeface="Calibri"/>
                <a:cs typeface="Calibri"/>
                <a:sym typeface="Calibri"/>
              </a:rPr>
              <a:t>Possible fix: match each sentence to an aspect first, then score it.</a:t>
            </a:r>
            <a:endParaRPr sz="1600" b="0" u="none" strike="noStrike">
              <a:solidFill>
                <a:srgbClr val="000000"/>
              </a:solidFill>
              <a:latin typeface="Arial"/>
              <a:ea typeface="Arial"/>
              <a:cs typeface="Arial"/>
              <a:sym typeface="Arial"/>
            </a:endParaRPr>
          </a:p>
        </p:txBody>
      </p:sp>
      <p:sp>
        <p:nvSpPr>
          <p:cNvPr id="143" name="Google Shape;143;p13"/>
          <p:cNvSpPr txBox="1">
            <a:spLocks noGrp="1"/>
          </p:cNvSpPr>
          <p:nvPr>
            <p:ph type="sldNum" idx="12"/>
          </p:nvPr>
        </p:nvSpPr>
        <p:spPr>
          <a:xfrm>
            <a:off x="11247120" y="6400800"/>
            <a:ext cx="456840" cy="27396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6C757D"/>
              </a:buClr>
              <a:buSzPts val="1200"/>
              <a:buFont typeface="Calibri"/>
              <a:buNone/>
            </a:pPr>
            <a:fld id="{00000000-1234-1234-1234-123412341234}" type="slidenum">
              <a:rPr lang="en-US" sz="1200" b="0" u="none" strike="noStrike">
                <a:solidFill>
                  <a:srgbClr val="6C757D"/>
                </a:solidFill>
                <a:latin typeface="Calibri"/>
                <a:ea typeface="Calibri"/>
                <a:cs typeface="Calibri"/>
                <a:sym typeface="Calibri"/>
              </a:rPr>
              <a:t>7</a:t>
            </a:fld>
            <a:endParaRPr sz="1200" b="0" u="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4"/>
          <p:cNvSpPr txBox="1">
            <a:spLocks noGrp="1"/>
          </p:cNvSpPr>
          <p:nvPr>
            <p:ph type="title" idx="4294967295"/>
          </p:nvPr>
        </p:nvSpPr>
        <p:spPr>
          <a:xfrm>
            <a:off x="548640" y="365760"/>
            <a:ext cx="11063880" cy="91404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Clr>
                <a:schemeClr val="lt1"/>
              </a:buClr>
              <a:buSzPts val="3600"/>
              <a:buFont typeface="Cambria"/>
              <a:buNone/>
            </a:pPr>
            <a:r>
              <a:rPr lang="en-US" sz="3600" b="1" i="0" u="none" strike="noStrike" cap="none">
                <a:solidFill>
                  <a:schemeClr val="lt1"/>
                </a:solidFill>
                <a:latin typeface="Cambria"/>
                <a:ea typeface="Cambria"/>
                <a:cs typeface="Cambria"/>
                <a:sym typeface="Cambria"/>
              </a:rPr>
              <a:t>Conclusions</a:t>
            </a:r>
            <a:endParaRPr sz="3600" b="0" i="0" u="none" strike="noStrike" cap="none">
              <a:solidFill>
                <a:schemeClr val="dk1"/>
              </a:solidFill>
              <a:latin typeface="Calibri"/>
              <a:ea typeface="Calibri"/>
              <a:cs typeface="Calibri"/>
              <a:sym typeface="Calibri"/>
            </a:endParaRPr>
          </a:p>
        </p:txBody>
      </p:sp>
      <p:sp>
        <p:nvSpPr>
          <p:cNvPr id="150" name="Google Shape;150;p14"/>
          <p:cNvSpPr/>
          <p:nvPr/>
        </p:nvSpPr>
        <p:spPr>
          <a:xfrm>
            <a:off x="548640" y="1554480"/>
            <a:ext cx="530316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200" b="1" u="none" strike="noStrike">
                <a:solidFill>
                  <a:schemeClr val="accent5"/>
                </a:solidFill>
                <a:latin typeface="Calibri"/>
                <a:ea typeface="Calibri"/>
                <a:cs typeface="Calibri"/>
                <a:sym typeface="Calibri"/>
              </a:rPr>
              <a:t>What we found</a:t>
            </a:r>
            <a:endParaRPr sz="2200" b="0" u="none" strike="noStrike">
              <a:solidFill>
                <a:srgbClr val="FFFFFF"/>
              </a:solidFill>
              <a:latin typeface="Arial"/>
              <a:ea typeface="Arial"/>
              <a:cs typeface="Arial"/>
              <a:sym typeface="Arial"/>
            </a:endParaRPr>
          </a:p>
        </p:txBody>
      </p:sp>
      <p:sp>
        <p:nvSpPr>
          <p:cNvPr id="151" name="Google Shape;151;p14"/>
          <p:cNvSpPr/>
          <p:nvPr/>
        </p:nvSpPr>
        <p:spPr>
          <a:xfrm>
            <a:off x="548640" y="2103120"/>
            <a:ext cx="5303160" cy="329148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Simple phrase counts with linear models beat guessing for 5 of the 6 ratings.</a:t>
            </a:r>
            <a:endParaRPr sz="1800" b="0" u="none" strike="noStrike">
              <a:solidFill>
                <a:srgbClr val="FFFFFF"/>
              </a:solidFill>
              <a:latin typeface="Arial"/>
              <a:ea typeface="Arial"/>
              <a:cs typeface="Arial"/>
              <a:sym typeface="Arial"/>
            </a:endParaRPr>
          </a:p>
          <a:p>
            <a:pPr marL="343080" marR="0" lvl="0" indent="-343080" algn="l" rtl="0">
              <a:lnSpc>
                <a:spcPct val="100000"/>
              </a:lnSpc>
              <a:spcBef>
                <a:spcPts val="1199"/>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Naive Bayes is the most accurate; we kept the balanced SVM for rare low ratings.</a:t>
            </a:r>
            <a:endParaRPr sz="1800" b="0" u="none" strike="noStrike">
              <a:solidFill>
                <a:srgbClr val="FFFFFF"/>
              </a:solidFill>
              <a:latin typeface="Arial"/>
              <a:ea typeface="Arial"/>
              <a:cs typeface="Arial"/>
              <a:sym typeface="Arial"/>
            </a:endParaRPr>
          </a:p>
          <a:p>
            <a:pPr marL="343080" marR="0" lvl="0" indent="-343080" algn="l" rtl="0">
              <a:lnSpc>
                <a:spcPct val="100000"/>
              </a:lnSpc>
              <a:spcBef>
                <a:spcPts val="1199"/>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Training on an aspect's own ratings helps when that aspect has its own words (like cleanliness).</a:t>
            </a:r>
            <a:endParaRPr sz="1800" b="0" u="none" strike="noStrike">
              <a:solidFill>
                <a:srgbClr val="FFFFFF"/>
              </a:solidFill>
              <a:latin typeface="Arial"/>
              <a:ea typeface="Arial"/>
              <a:cs typeface="Arial"/>
              <a:sym typeface="Arial"/>
            </a:endParaRPr>
          </a:p>
          <a:p>
            <a:pPr marL="343080" marR="0" lvl="0" indent="-343080" algn="l" rtl="0">
              <a:lnSpc>
                <a:spcPct val="100000"/>
              </a:lnSpc>
              <a:spcBef>
                <a:spcPts val="1199"/>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For location, the models learned little beyond the 5-star skew.</a:t>
            </a:r>
            <a:endParaRPr sz="1800" b="0" u="none" strike="noStrike">
              <a:solidFill>
                <a:srgbClr val="FFFFFF"/>
              </a:solidFill>
              <a:latin typeface="Arial"/>
              <a:ea typeface="Arial"/>
              <a:cs typeface="Arial"/>
              <a:sym typeface="Arial"/>
            </a:endParaRPr>
          </a:p>
        </p:txBody>
      </p:sp>
      <p:sp>
        <p:nvSpPr>
          <p:cNvPr id="152" name="Google Shape;152;p14"/>
          <p:cNvSpPr/>
          <p:nvPr/>
        </p:nvSpPr>
        <p:spPr>
          <a:xfrm>
            <a:off x="6492240" y="1554480"/>
            <a:ext cx="5120280" cy="456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2200" b="1" u="none" strike="noStrike">
                <a:solidFill>
                  <a:schemeClr val="accent5"/>
                </a:solidFill>
                <a:latin typeface="Calibri"/>
                <a:ea typeface="Calibri"/>
                <a:cs typeface="Calibri"/>
                <a:sym typeface="Calibri"/>
              </a:rPr>
              <a:t>Future work</a:t>
            </a:r>
            <a:endParaRPr sz="2200" b="0" u="none" strike="noStrike">
              <a:solidFill>
                <a:srgbClr val="FFFFFF"/>
              </a:solidFill>
              <a:latin typeface="Arial"/>
              <a:ea typeface="Arial"/>
              <a:cs typeface="Arial"/>
              <a:sym typeface="Arial"/>
            </a:endParaRPr>
          </a:p>
        </p:txBody>
      </p:sp>
      <p:sp>
        <p:nvSpPr>
          <p:cNvPr id="153" name="Google Shape;153;p14"/>
          <p:cNvSpPr/>
          <p:nvPr/>
        </p:nvSpPr>
        <p:spPr>
          <a:xfrm>
            <a:off x="6492240" y="2103120"/>
            <a:ext cx="5120280" cy="2377080"/>
          </a:xfrm>
          <a:prstGeom prst="rect">
            <a:avLst/>
          </a:prstGeom>
          <a:noFill/>
          <a:ln>
            <a:noFill/>
          </a:ln>
        </p:spPr>
        <p:txBody>
          <a:bodyPr spcFirstLastPara="1" wrap="square" lIns="0" tIns="0" rIns="0" bIns="0" anchor="t" anchorCtr="0">
            <a:noAutofit/>
          </a:bodyPr>
          <a:lstStyle/>
          <a:p>
            <a:pPr marL="343080" marR="0" lvl="0" indent="-343080" algn="l" rtl="0">
              <a:lnSpc>
                <a:spcPct val="100000"/>
              </a:lnSpc>
              <a:spcBef>
                <a:spcPts val="0"/>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Assign each sentence to an aspect</a:t>
            </a:r>
            <a:endParaRPr sz="1800" b="0" u="none" strike="noStrike">
              <a:solidFill>
                <a:srgbClr val="FFFFFF"/>
              </a:solidFill>
              <a:latin typeface="Arial"/>
              <a:ea typeface="Arial"/>
              <a:cs typeface="Arial"/>
              <a:sym typeface="Arial"/>
            </a:endParaRPr>
          </a:p>
          <a:p>
            <a:pPr marL="343080" marR="0" lvl="0" indent="-343080" algn="l" rtl="0">
              <a:lnSpc>
                <a:spcPct val="100000"/>
              </a:lnSpc>
              <a:spcBef>
                <a:spcPts val="1199"/>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Ordinal regression / class rebalancing</a:t>
            </a:r>
            <a:endParaRPr sz="1800" b="0" u="none" strike="noStrike">
              <a:solidFill>
                <a:srgbClr val="FFFFFF"/>
              </a:solidFill>
              <a:latin typeface="Arial"/>
              <a:ea typeface="Arial"/>
              <a:cs typeface="Arial"/>
              <a:sym typeface="Arial"/>
            </a:endParaRPr>
          </a:p>
          <a:p>
            <a:pPr marL="343080" marR="0" lvl="0" indent="-343080" algn="l" rtl="0">
              <a:lnSpc>
                <a:spcPct val="100000"/>
              </a:lnSpc>
              <a:spcBef>
                <a:spcPts val="1199"/>
              </a:spcBef>
              <a:spcAft>
                <a:spcPts val="0"/>
              </a:spcAft>
              <a:buClr>
                <a:schemeClr val="lt1"/>
              </a:buClr>
              <a:buSzPts val="1800"/>
              <a:buFont typeface="Noto Sans Symbols"/>
              <a:buChar char="∙"/>
            </a:pPr>
            <a:r>
              <a:rPr lang="en-US" sz="1800" b="0" u="none" strike="noStrike">
                <a:solidFill>
                  <a:schemeClr val="lt1"/>
                </a:solidFill>
                <a:latin typeface="Calibri"/>
                <a:ea typeface="Calibri"/>
                <a:cs typeface="Calibri"/>
                <a:sym typeface="Calibri"/>
              </a:rPr>
              <a:t>Try BERT-style transformers</a:t>
            </a:r>
            <a:endParaRPr sz="1800" b="0" u="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5"/>
          <p:cNvSpPr/>
          <p:nvPr/>
        </p:nvSpPr>
        <p:spPr>
          <a:xfrm>
            <a:off x="731520" y="2011680"/>
            <a:ext cx="8229240" cy="14626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6600" b="1" u="none" strike="noStrike">
                <a:solidFill>
                  <a:schemeClr val="lt1"/>
                </a:solidFill>
                <a:latin typeface="Cambria"/>
                <a:ea typeface="Cambria"/>
                <a:cs typeface="Cambria"/>
                <a:sym typeface="Cambria"/>
              </a:rPr>
              <a:t>Thank you!</a:t>
            </a:r>
            <a:endParaRPr sz="6600" b="0" u="none" strike="noStrike">
              <a:solidFill>
                <a:srgbClr val="FFFFFF"/>
              </a:solidFill>
              <a:latin typeface="Arial"/>
              <a:ea typeface="Arial"/>
              <a:cs typeface="Arial"/>
              <a:sym typeface="Arial"/>
            </a:endParaRPr>
          </a:p>
        </p:txBody>
      </p:sp>
      <p:sp>
        <p:nvSpPr>
          <p:cNvPr id="160" name="Google Shape;160;p15"/>
          <p:cNvSpPr/>
          <p:nvPr/>
        </p:nvSpPr>
        <p:spPr>
          <a:xfrm>
            <a:off x="8778240" y="219456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1" name="Google Shape;161;p15"/>
          <p:cNvSpPr/>
          <p:nvPr/>
        </p:nvSpPr>
        <p:spPr>
          <a:xfrm>
            <a:off x="9829800" y="219456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2" name="Google Shape;162;p15"/>
          <p:cNvSpPr/>
          <p:nvPr/>
        </p:nvSpPr>
        <p:spPr>
          <a:xfrm>
            <a:off x="10881360" y="219456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3" name="Google Shape;163;p15"/>
          <p:cNvSpPr/>
          <p:nvPr/>
        </p:nvSpPr>
        <p:spPr>
          <a:xfrm>
            <a:off x="8778240" y="3337560"/>
            <a:ext cx="914040" cy="914040"/>
          </a:xfrm>
          <a:prstGeom prst="star5">
            <a:avLst>
              <a:gd name="adj" fmla="val 19098"/>
              <a:gd name="hf" fmla="val 105146"/>
              <a:gd name="vf" fmla="val 110557"/>
            </a:avLst>
          </a:prstGeom>
          <a:solidFill>
            <a:schemeClr val="accent5"/>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000000"/>
              </a:solidFill>
              <a:latin typeface="Arial"/>
              <a:ea typeface="Arial"/>
              <a:cs typeface="Arial"/>
              <a:sym typeface="Arial"/>
            </a:endParaRPr>
          </a:p>
        </p:txBody>
      </p:sp>
      <p:sp>
        <p:nvSpPr>
          <p:cNvPr id="164" name="Google Shape;164;p15"/>
          <p:cNvSpPr/>
          <p:nvPr/>
        </p:nvSpPr>
        <p:spPr>
          <a:xfrm>
            <a:off x="9829800" y="3337560"/>
            <a:ext cx="914040" cy="914040"/>
          </a:xfrm>
          <a:prstGeom prst="star5">
            <a:avLst>
              <a:gd name="adj" fmla="val 19098"/>
              <a:gd name="hf" fmla="val 105146"/>
              <a:gd name="vf" fmla="val 110557"/>
            </a:avLst>
          </a:prstGeom>
          <a:solidFill>
            <a:schemeClr val="accent3"/>
          </a:solidFill>
          <a:ln w="12700" cap="flat" cmpd="sng">
            <a:solidFill>
              <a:srgbClr val="F4A261"/>
            </a:solidFill>
            <a:prstDash val="solid"/>
            <a:round/>
            <a:headEnd type="none" w="sm" len="sm"/>
            <a:tailEnd type="none" w="sm" len="sm"/>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HotelReviews">
  <a:themeElements>
    <a:clrScheme name="HotelReviews">
      <a:dk1>
        <a:srgbClr val="1B2B2F"/>
      </a:dk1>
      <a:lt1>
        <a:srgbClr val="FFFFFF"/>
      </a:lt1>
      <a:dk2>
        <a:srgbClr val="0F4C5C"/>
      </a:dk2>
      <a:lt2>
        <a:srgbClr val="EAF3F4"/>
      </a:lt2>
      <a:accent1>
        <a:srgbClr val="0F4C5C"/>
      </a:accent1>
      <a:accent2>
        <a:srgbClr val="E36414"/>
      </a:accent2>
      <a:accent3>
        <a:srgbClr val="5F9EA0"/>
      </a:accent3>
      <a:accent4>
        <a:srgbClr val="1F7A6D"/>
      </a:accent4>
      <a:accent5>
        <a:srgbClr val="F4A261"/>
      </a:accent5>
      <a:accent6>
        <a:srgbClr val="6C757D"/>
      </a:accent6>
      <a:hlink>
        <a:srgbClr val="0F4C5C"/>
      </a:hlink>
      <a:folHlink>
        <a:srgbClr val="6C75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HotelReviews">
  <a:themeElements>
    <a:clrScheme name="HotelReviews">
      <a:dk1>
        <a:srgbClr val="1B2B2F"/>
      </a:dk1>
      <a:lt1>
        <a:srgbClr val="FFFFFF"/>
      </a:lt1>
      <a:dk2>
        <a:srgbClr val="0F4C5C"/>
      </a:dk2>
      <a:lt2>
        <a:srgbClr val="EAF3F4"/>
      </a:lt2>
      <a:accent1>
        <a:srgbClr val="0F4C5C"/>
      </a:accent1>
      <a:accent2>
        <a:srgbClr val="E36414"/>
      </a:accent2>
      <a:accent3>
        <a:srgbClr val="5F9EA0"/>
      </a:accent3>
      <a:accent4>
        <a:srgbClr val="1F7A6D"/>
      </a:accent4>
      <a:accent5>
        <a:srgbClr val="F4A261"/>
      </a:accent5>
      <a:accent6>
        <a:srgbClr val="6C757D"/>
      </a:accent6>
      <a:hlink>
        <a:srgbClr val="0F4C5C"/>
      </a:hlink>
      <a:folHlink>
        <a:srgbClr val="6C75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HotelReviews">
  <a:themeElements>
    <a:clrScheme name="HotelReviews">
      <a:dk1>
        <a:srgbClr val="1B2B2F"/>
      </a:dk1>
      <a:lt1>
        <a:srgbClr val="FFFFFF"/>
      </a:lt1>
      <a:dk2>
        <a:srgbClr val="0F4C5C"/>
      </a:dk2>
      <a:lt2>
        <a:srgbClr val="EAF3F4"/>
      </a:lt2>
      <a:accent1>
        <a:srgbClr val="0F4C5C"/>
      </a:accent1>
      <a:accent2>
        <a:srgbClr val="E36414"/>
      </a:accent2>
      <a:accent3>
        <a:srgbClr val="5F9EA0"/>
      </a:accent3>
      <a:accent4>
        <a:srgbClr val="1F7A6D"/>
      </a:accent4>
      <a:accent5>
        <a:srgbClr val="F4A261"/>
      </a:accent5>
      <a:accent6>
        <a:srgbClr val="6C757D"/>
      </a:accent6>
      <a:hlink>
        <a:srgbClr val="0F4C5C"/>
      </a:hlink>
      <a:folHlink>
        <a:srgbClr val="6C75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1260</Words>
  <Application>Microsoft Office PowerPoint</Application>
  <PresentationFormat>Widescreen</PresentationFormat>
  <Paragraphs>124</Paragraphs>
  <Slides>9</Slides>
  <Notes>9</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9</vt:i4>
      </vt:variant>
    </vt:vector>
  </HeadingPairs>
  <TitlesOfParts>
    <vt:vector size="16" baseType="lpstr">
      <vt:lpstr>Arial</vt:lpstr>
      <vt:lpstr>Calibri</vt:lpstr>
      <vt:lpstr>Cambria</vt:lpstr>
      <vt:lpstr>Noto Sans Symbols</vt:lpstr>
      <vt:lpstr>HotelReviews</vt:lpstr>
      <vt:lpstr>HotelReviews</vt:lpstr>
      <vt:lpstr>HotelReviews</vt:lpstr>
      <vt:lpstr>PowerPoint Presentation</vt:lpstr>
      <vt:lpstr>Predict six star ratings from the text of a hotel review</vt:lpstr>
      <vt:lpstr>Word-count features feed three models per target</vt:lpstr>
      <vt:lpstr>Naive Bayes is the most accurate model on every target</vt:lpstr>
      <vt:lpstr>Location is the exception: models barely beat guessing</vt:lpstr>
      <vt:lpstr>Aspect-specific training helps on three of five aspects</vt:lpstr>
      <vt:lpstr>Live demo: predict_review(text) scores every target</vt:lpstr>
      <vt:lpstr>Conclusions and next steps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1</cp:revision>
  <dcterms:modified xsi:type="dcterms:W3CDTF">2026-10-11T13:53:34Z</dcterms:modified>
</cp:coreProperties>
</file>